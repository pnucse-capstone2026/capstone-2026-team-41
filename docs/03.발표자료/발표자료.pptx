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"/>
  </p:notesMasterIdLst>
  <p:sldIdLst>
    <p:sldId id="256" r:id="rId2"/>
  </p:sldIdLst>
  <p:sldSz cx="21383625" cy="30275213"/>
  <p:notesSz cx="6858000" cy="9144000"/>
  <p:embeddedFontLst>
    <p:embeddedFont>
      <p:font typeface="Apple SD Gothic Neo" panose="02000300000000000000" pitchFamily="2" charset="-127"/>
      <p:regular r:id="rId4"/>
      <p:bold r:id="rId5"/>
    </p:embeddedFont>
    <p:embeddedFont>
      <p:font typeface="Arial Unicode MS" panose="020B0604020202020204" pitchFamily="34" charset="-128"/>
      <p:regular r:id="rId6"/>
    </p:embeddedFont>
    <p:embeddedFont>
      <p:font typeface="Arial Black" panose="020B0604020202020204" pitchFamily="34" charset="0"/>
      <p:bold r:id="rId7"/>
    </p:embeddedFont>
    <p:embeddedFont>
      <p:font typeface="Franklin Gothic Demi" panose="020B0603020102020204" pitchFamily="34" charset="0"/>
      <p:regular r:id="rId8"/>
      <p:bold r:id="rId9"/>
      <p:italic r:id="rId10"/>
      <p:boldItalic r:id="rId11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8796"/>
    <p:restoredTop sz="94659"/>
  </p:normalViewPr>
  <p:slideViewPr>
    <p:cSldViewPr snapToGrid="0">
      <p:cViewPr>
        <p:scale>
          <a:sx n="50" d="100"/>
          <a:sy n="50" d="100"/>
        </p:scale>
        <p:origin x="448" y="-7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schemas.openxmlformats.org/officeDocument/2006/relationships/viewProps" Target="viewProps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font" Target="fonts/font8.fntdata"/><Relationship Id="rId5" Type="http://schemas.openxmlformats.org/officeDocument/2006/relationships/font" Target="fonts/font2.fntdata"/><Relationship Id="rId15" Type="http://schemas.openxmlformats.org/officeDocument/2006/relationships/tableStyles" Target="tableStyles.xml"/><Relationship Id="rId10" Type="http://schemas.openxmlformats.org/officeDocument/2006/relationships/font" Target="fonts/font7.fntdata"/><Relationship Id="rId4" Type="http://schemas.openxmlformats.org/officeDocument/2006/relationships/font" Target="fonts/font1.fntdata"/><Relationship Id="rId9" Type="http://schemas.openxmlformats.org/officeDocument/2006/relationships/font" Target="fonts/font6.fntdata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ko-KR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F1</c:v>
          </c:tx>
          <c:spPr>
            <a:solidFill>
              <a:srgbClr val="2F5597"/>
            </a:solidFill>
          </c:spPr>
          <c:invertIfNegative val="1"/>
          <c:dPt>
            <c:idx val="0"/>
            <c:invertIfNegative val="0"/>
            <c:bubble3D val="0"/>
            <c:spPr>
              <a:solidFill>
                <a:srgbClr val="7898BC"/>
              </a:solidFill>
            </c:spPr>
            <c:extLst>
              <c:ext xmlns:c16="http://schemas.microsoft.com/office/drawing/2014/chart" uri="{C3380CC4-5D6E-409C-BE32-E72D297353CC}">
                <c16:uniqueId val="{00000001-3B25-094F-B691-DC6CACBC7BAC}"/>
              </c:ext>
            </c:extLst>
          </c:dPt>
          <c:dPt>
            <c:idx val="1"/>
            <c:invertIfNegative val="0"/>
            <c:bubble3D val="0"/>
            <c:spPr>
              <a:solidFill>
                <a:srgbClr val="149E9A"/>
              </a:solidFill>
            </c:spPr>
            <c:extLst>
              <c:ext xmlns:c16="http://schemas.microsoft.com/office/drawing/2014/chart" uri="{C3380CC4-5D6E-409C-BE32-E72D297353CC}">
                <c16:uniqueId val="{00000003-3B25-094F-B691-DC6CACBC7BAC}"/>
              </c:ext>
            </c:extLst>
          </c:dPt>
          <c:dPt>
            <c:idx val="2"/>
            <c:invertIfNegative val="0"/>
            <c:bubble3D val="0"/>
            <c:spPr>
              <a:solidFill>
                <a:srgbClr val="E59A3A"/>
              </a:solidFill>
            </c:spPr>
            <c:extLst>
              <c:ext xmlns:c16="http://schemas.microsoft.com/office/drawing/2014/chart" uri="{C3380CC4-5D6E-409C-BE32-E72D297353CC}">
                <c16:uniqueId val="{00000005-3B25-094F-B691-DC6CACBC7BAC}"/>
              </c:ext>
            </c:extLst>
          </c:dPt>
          <c:dPt>
            <c:idx val="3"/>
            <c:invertIfNegative val="0"/>
            <c:bubble3D val="0"/>
            <c:spPr>
              <a:solidFill>
                <a:srgbClr val="89939E"/>
              </a:solidFill>
            </c:spPr>
            <c:extLst>
              <c:ext xmlns:c16="http://schemas.microsoft.com/office/drawing/2014/chart" uri="{C3380CC4-5D6E-409C-BE32-E72D297353CC}">
                <c16:uniqueId val="{00000007-3B25-094F-B691-DC6CACBC7BAC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725" b="1">
                    <a:solidFill>
                      <a:srgbClr val="18212D"/>
                    </a:solidFill>
                    <a:latin typeface="Arial Unicode MS"/>
                    <a:ea typeface="Arial Unicode MS"/>
                    <a:cs typeface="Arial Unicode M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Data'!$A$2:$A$5</c:f>
              <c:strCache>
                <c:ptCount val="4"/>
                <c:pt idx="0">
                  <c:v>고정 CPG</c:v>
                </c:pt>
                <c:pt idx="1">
                  <c:v>CPG+Qwen 규칙</c:v>
                </c:pt>
                <c:pt idx="2">
                  <c:v>Qwen source-only</c:v>
                </c:pt>
                <c:pt idx="3">
                  <c:v>CodeQL</c:v>
                </c:pt>
              </c:strCache>
            </c:strRef>
          </c:cat>
          <c:val>
            <c:numRef>
              <c:f>'Chart Data'!$B$2:$B$5</c:f>
              <c:numCache>
                <c:formatCode>0.000</c:formatCode>
                <c:ptCount val="4"/>
                <c:pt idx="0">
                  <c:v>0.4</c:v>
                </c:pt>
                <c:pt idx="1">
                  <c:v>0.46600000000000003</c:v>
                </c:pt>
                <c:pt idx="2">
                  <c:v>0.88400000000000001</c:v>
                </c:pt>
                <c:pt idx="3">
                  <c:v>0.33400000000000002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8-3B25-094F-B691-DC6CACBC7BAC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9525">
            <a:solidFill>
              <a:srgbClr val="D8E0E7"/>
            </a:solidFill>
          </a:ln>
        </c:spPr>
        <c:txPr>
          <a:bodyPr anchorCtr="1"/>
          <a:lstStyle/>
          <a:p>
            <a:pPr>
              <a:defRPr sz="1350">
                <a:solidFill>
                  <a:srgbClr val="5B6573"/>
                </a:solidFill>
                <a:latin typeface="Arial Unicode MS"/>
                <a:ea typeface="Arial Unicode MS"/>
                <a:cs typeface="Arial Unicode MS"/>
              </a:defRPr>
            </a:pPr>
            <a:endParaRPr lang="ko-KR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b"/>
        <c:numFmt formatCode="0.000" sourceLinked="1"/>
        <c:majorTickMark val="none"/>
        <c:minorTickMark val="none"/>
        <c:tickLblPos val="nextTo"/>
        <c:spPr>
          <a:ln w="0">
            <a:noFill/>
          </a:ln>
        </c:spPr>
        <c:txPr>
          <a:bodyPr anchorCtr="1"/>
          <a:lstStyle/>
          <a:p>
            <a:pPr>
              <a:defRPr sz="1725">
                <a:solidFill>
                  <a:srgbClr val="18212D"/>
                </a:solidFill>
                <a:latin typeface="Arial Unicode MS"/>
                <a:ea typeface="Arial Unicode MS"/>
                <a:cs typeface="Arial Unicode MS"/>
              </a:defRPr>
            </a:pPr>
            <a:endParaRPr lang="ko-KR"/>
          </a:p>
        </c:txPr>
        <c:crossAx val="48650112"/>
        <c:crosses val="autoZero"/>
        <c:crossBetween val="between"/>
      </c:valAx>
    </c:plotArea>
    <c:plotVisOnly val="1"/>
    <c:dispBlanksAs val="zero"/>
    <c:showDLblsOverMax val="1"/>
  </c:chart>
  <c:spPr>
    <a:solidFill>
      <a:srgbClr val="FFFFFF"/>
    </a:solidFill>
    <a:ln w="0">
      <a:noFill/>
    </a:ln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형식</a:t>
            </a:r>
            <a:r>
              <a:rPr dirty="0"/>
              <a:t> </a:t>
            </a:r>
            <a:r>
              <a:rPr dirty="0" err="1"/>
              <a:t>원본</a:t>
            </a:r>
            <a:r>
              <a:rPr dirty="0"/>
              <a:t>: </a:t>
            </a:r>
            <a:r>
              <a:rPr dirty="0" err="1"/>
              <a:t>사용자</a:t>
            </a:r>
            <a:r>
              <a:rPr dirty="0"/>
              <a:t> </a:t>
            </a:r>
            <a:r>
              <a:rPr dirty="0" err="1"/>
              <a:t>제공</a:t>
            </a:r>
            <a:r>
              <a:rPr dirty="0"/>
              <a:t> ScanOps_2026전기_졸업과제_포스터_최종.pptx. </a:t>
            </a:r>
            <a:r>
              <a:rPr dirty="0" err="1"/>
              <a:t>D분과의</a:t>
            </a:r>
            <a:r>
              <a:rPr dirty="0"/>
              <a:t> </a:t>
            </a:r>
            <a:r>
              <a:rPr dirty="0" err="1"/>
              <a:t>배너</a:t>
            </a:r>
            <a:r>
              <a:rPr dirty="0"/>
              <a:t>, </a:t>
            </a:r>
            <a:r>
              <a:rPr dirty="0" err="1"/>
              <a:t>구역</a:t>
            </a:r>
            <a:r>
              <a:rPr dirty="0"/>
              <a:t> </a:t>
            </a:r>
            <a:r>
              <a:rPr dirty="0" err="1"/>
              <a:t>구분선</a:t>
            </a:r>
            <a:r>
              <a:rPr dirty="0"/>
              <a:t>, </a:t>
            </a:r>
            <a:r>
              <a:rPr dirty="0" err="1"/>
              <a:t>기관</a:t>
            </a:r>
            <a:r>
              <a:rPr dirty="0"/>
              <a:t> </a:t>
            </a:r>
            <a:r>
              <a:rPr dirty="0" err="1"/>
              <a:t>로고</a:t>
            </a:r>
            <a:r>
              <a:rPr dirty="0"/>
              <a:t> </a:t>
            </a:r>
            <a:r>
              <a:rPr dirty="0" err="1"/>
              <a:t>이미지와</a:t>
            </a:r>
            <a:r>
              <a:rPr dirty="0"/>
              <a:t> </a:t>
            </a:r>
            <a:r>
              <a:rPr dirty="0" err="1"/>
              <a:t>슬라이드</a:t>
            </a:r>
            <a:r>
              <a:rPr dirty="0"/>
              <a:t> </a:t>
            </a:r>
            <a:r>
              <a:rPr dirty="0" err="1"/>
              <a:t>크기를</a:t>
            </a:r>
            <a:r>
              <a:rPr dirty="0"/>
              <a:t> </a:t>
            </a:r>
            <a:r>
              <a:rPr dirty="0" err="1"/>
              <a:t>유지했다</a:t>
            </a:r>
            <a:r>
              <a:rPr dirty="0"/>
              <a:t>. </a:t>
            </a:r>
            <a:r>
              <a:rPr dirty="0" err="1"/>
              <a:t>내용은</a:t>
            </a:r>
            <a:r>
              <a:rPr dirty="0"/>
              <a:t> </a:t>
            </a:r>
            <a:r>
              <a:rPr dirty="0" err="1"/>
              <a:t>이</a:t>
            </a:r>
            <a:r>
              <a:rPr dirty="0"/>
              <a:t> </a:t>
            </a:r>
            <a:r>
              <a:rPr dirty="0" err="1"/>
              <a:t>파일과</a:t>
            </a:r>
            <a:r>
              <a:rPr dirty="0"/>
              <a:t> </a:t>
            </a:r>
            <a:r>
              <a:rPr dirty="0" err="1"/>
              <a:t>이전</a:t>
            </a:r>
            <a:r>
              <a:rPr dirty="0"/>
              <a:t> </a:t>
            </a:r>
            <a:r>
              <a:rPr dirty="0" err="1"/>
              <a:t>사용자</a:t>
            </a:r>
            <a:r>
              <a:rPr dirty="0"/>
              <a:t> </a:t>
            </a:r>
            <a:r>
              <a:rPr dirty="0" err="1"/>
              <a:t>제공</a:t>
            </a:r>
            <a:r>
              <a:rPr dirty="0"/>
              <a:t> </a:t>
            </a:r>
            <a:r>
              <a:rPr dirty="0" err="1"/>
              <a:t>혜은</a:t>
            </a:r>
            <a:r>
              <a:rPr dirty="0"/>
              <a:t> </a:t>
            </a:r>
            <a:r>
              <a:rPr dirty="0" err="1"/>
              <a:t>포스터.pptx</a:t>
            </a:r>
            <a:r>
              <a:rPr dirty="0"/>
              <a:t> </a:t>
            </a:r>
            <a:r>
              <a:rPr dirty="0" err="1"/>
              <a:t>및</a:t>
            </a:r>
            <a:r>
              <a:rPr dirty="0"/>
              <a:t> 그림1/그림2를 </a:t>
            </a:r>
            <a:r>
              <a:rPr dirty="0" err="1"/>
              <a:t>따랐다</a:t>
            </a:r>
            <a:r>
              <a:rPr dirty="0"/>
              <a:t>. Figma V3 Dashboard </a:t>
            </a:r>
            <a:r>
              <a:rPr dirty="0" err="1"/>
              <a:t>프레임에서</a:t>
            </a:r>
            <a:r>
              <a:rPr dirty="0"/>
              <a:t> </a:t>
            </a:r>
            <a:r>
              <a:rPr dirty="0" err="1"/>
              <a:t>PNG로</a:t>
            </a:r>
            <a:r>
              <a:rPr dirty="0"/>
              <a:t> </a:t>
            </a:r>
            <a:r>
              <a:rPr dirty="0" err="1"/>
              <a:t>직접</a:t>
            </a:r>
            <a:r>
              <a:rPr dirty="0"/>
              <a:t> </a:t>
            </a:r>
            <a:r>
              <a:rPr dirty="0" err="1"/>
              <a:t>복사한</a:t>
            </a:r>
            <a:r>
              <a:rPr dirty="0"/>
              <a:t> </a:t>
            </a:r>
            <a:r>
              <a:rPr dirty="0" err="1"/>
              <a:t>디자인</a:t>
            </a:r>
            <a:r>
              <a:rPr dirty="0"/>
              <a:t> </a:t>
            </a:r>
            <a:r>
              <a:rPr dirty="0" err="1"/>
              <a:t>화면</a:t>
            </a:r>
            <a:r>
              <a:rPr dirty="0"/>
              <a:t>: https://</a:t>
            </a:r>
            <a:r>
              <a:rPr dirty="0" err="1"/>
              <a:t>www.figma.com</a:t>
            </a:r>
            <a:r>
              <a:rPr dirty="0"/>
              <a:t>/design/sFeMct77MV7FcmyKYuwSkg/</a:t>
            </a:r>
            <a:r>
              <a:rPr dirty="0" err="1"/>
              <a:t>ScanOps</a:t>
            </a:r>
            <a:r>
              <a:rPr dirty="0"/>
              <a:t> . </a:t>
            </a:r>
            <a:r>
              <a:rPr dirty="0" err="1"/>
              <a:t>화면</a:t>
            </a:r>
            <a:r>
              <a:rPr dirty="0"/>
              <a:t> </a:t>
            </a:r>
            <a:r>
              <a:rPr dirty="0" err="1"/>
              <a:t>내</a:t>
            </a:r>
            <a:r>
              <a:rPr dirty="0"/>
              <a:t> </a:t>
            </a:r>
            <a:r>
              <a:rPr dirty="0" err="1"/>
              <a:t>수치는</a:t>
            </a:r>
            <a:r>
              <a:rPr dirty="0"/>
              <a:t> </a:t>
            </a:r>
            <a:r>
              <a:rPr dirty="0" err="1"/>
              <a:t>예시</a:t>
            </a:r>
            <a:r>
              <a:rPr dirty="0"/>
              <a:t> </a:t>
            </a:r>
            <a:r>
              <a:rPr dirty="0" err="1"/>
              <a:t>데이터이며</a:t>
            </a:r>
            <a:r>
              <a:rPr dirty="0"/>
              <a:t> </a:t>
            </a:r>
            <a:r>
              <a:rPr dirty="0" err="1"/>
              <a:t>연구</a:t>
            </a:r>
            <a:r>
              <a:rPr dirty="0"/>
              <a:t> </a:t>
            </a:r>
            <a:r>
              <a:rPr dirty="0" err="1"/>
              <a:t>성능의</a:t>
            </a:r>
            <a:r>
              <a:rPr dirty="0"/>
              <a:t> </a:t>
            </a:r>
            <a:r>
              <a:rPr dirty="0" err="1"/>
              <a:t>근거가</a:t>
            </a:r>
            <a:r>
              <a:rPr dirty="0"/>
              <a:t> </a:t>
            </a:r>
            <a:r>
              <a:rPr dirty="0" err="1"/>
              <a:t>아니다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6FE4ED-B72F-4AB9-8337-5A8D22643E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03772" y="4954765"/>
            <a:ext cx="18176081" cy="10540259"/>
          </a:xfrm>
        </p:spPr>
        <p:txBody>
          <a:bodyPr anchor="b"/>
          <a:lstStyle>
            <a:lvl1pPr algn="ctr">
              <a:buNone/>
              <a:defRPr sz="14031"/>
            </a:lvl1pPr>
          </a:lstStyle>
          <a:p>
            <a:r>
              <a:t>마스터 제목 스타일 편집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F953B4-3887-4757-A0D4-39DCFFFF2C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72953" y="15901497"/>
            <a:ext cx="16037719" cy="7309499"/>
          </a:xfrm>
        </p:spPr>
        <p:txBody>
          <a:bodyPr/>
          <a:lstStyle>
            <a:lvl1pPr marL="0" indent="0" algn="ctr">
              <a:buNone/>
              <a:defRPr sz="5612"/>
            </a:lvl1pPr>
            <a:lvl2pPr marL="1069162" indent="0" algn="ctr">
              <a:buNone/>
              <a:defRPr sz="4677"/>
            </a:lvl2pPr>
            <a:lvl3pPr marL="2138324" indent="0" algn="ctr">
              <a:buNone/>
              <a:defRPr sz="4209"/>
            </a:lvl3pPr>
            <a:lvl4pPr marL="3207487" indent="0" algn="ctr">
              <a:buNone/>
              <a:defRPr sz="3742"/>
            </a:lvl4pPr>
            <a:lvl5pPr marL="4276649" indent="0" algn="ctr">
              <a:buNone/>
              <a:defRPr sz="3742"/>
            </a:lvl5pPr>
            <a:lvl6pPr marL="5345811" indent="0" algn="ctr">
              <a:buNone/>
              <a:defRPr sz="3742"/>
            </a:lvl6pPr>
            <a:lvl7pPr marL="6414973" indent="0" algn="ctr">
              <a:buNone/>
              <a:defRPr sz="3742"/>
            </a:lvl7pPr>
            <a:lvl8pPr marL="7484135" indent="0" algn="ctr">
              <a:buNone/>
              <a:defRPr sz="3742"/>
            </a:lvl8pPr>
            <a:lvl9pPr marL="8553298" indent="0" algn="ctr">
              <a:buNone/>
              <a:defRPr sz="3742"/>
            </a:lvl9pPr>
          </a:lstStyle>
          <a:p>
            <a:r>
              <a:t>클릭하여 마스터 부제목 스타일 편집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869A8F-1CEA-4253-B505-827273155E5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26368C2B-BE6A-4123-B1EB-3B148078ED94}" type="datetimeFigureOut">
              <a:t>2026. 9. 9.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011119-BEAB-4E5B-828E-5A4667464DC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62133A-D52D-43D4-95F9-BCDA124A9ED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CFA5EE4-1B2F-4824-B0C8-6C1DBF8DD7E6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9F093F-6B9A-4E81-B535-F4B489EDD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마스터 제목 스타일 편집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87E160-11B8-481C-9142-A6261C4E3B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마스터 텍스트 스타일 편집</a:t>
            </a:r>
          </a:p>
          <a:p>
            <a:pPr lvl="1">
              <a:buNone/>
            </a:pPr>
            <a:r>
              <a:t>둘째 수준</a:t>
            </a:r>
          </a:p>
          <a:p>
            <a:pPr lvl="2">
              <a:buNone/>
            </a:pPr>
            <a:r>
              <a:t>셋째 수준</a:t>
            </a:r>
          </a:p>
          <a:p>
            <a:pPr lvl="3">
              <a:buNone/>
            </a:pPr>
            <a:r>
              <a:t>넷째 수준</a:t>
            </a:r>
          </a:p>
          <a:p>
            <a:pPr lvl="4">
              <a:buNone/>
            </a:pPr>
            <a:r>
              <a:t>다섯째 수준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6DBBC7-6B83-4F1D-82CC-99E0FBC7D1F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26368C2B-BE6A-4123-B1EB-3B148078ED94}" type="datetimeFigureOut">
              <a:t>2026. 9. 9.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FD2218-67D7-4108-9024-77EE70319A2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BFC215-B90F-4D02-B572-EA8D6908CA7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CFA5EE4-1B2F-4824-B0C8-6C1DBF8DD7E6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11D3CE-248E-4CFF-8067-311F6C9D85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8988" y="7547788"/>
            <a:ext cx="18443377" cy="12593645"/>
          </a:xfrm>
        </p:spPr>
        <p:txBody>
          <a:bodyPr anchor="b"/>
          <a:lstStyle>
            <a:lvl1pPr>
              <a:buNone/>
              <a:defRPr sz="14031"/>
            </a:lvl1pPr>
          </a:lstStyle>
          <a:p>
            <a:r>
              <a:t>마스터 제목 스타일 편집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8D9562-EEE7-4516-BFCC-1BD897FD48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58988" y="20260574"/>
            <a:ext cx="18443377" cy="6622701"/>
          </a:xfrm>
        </p:spPr>
        <p:txBody>
          <a:bodyPr/>
          <a:lstStyle>
            <a:lvl1pPr marL="0" indent="0">
              <a:buNone/>
              <a:defRPr sz="5612">
                <a:solidFill>
                  <a:schemeClr val="tx1"/>
                </a:solidFill>
              </a:defRPr>
            </a:lvl1pPr>
            <a:lvl2pPr marL="1069162" indent="0">
              <a:buNone/>
              <a:defRPr sz="4677">
                <a:solidFill>
                  <a:schemeClr val="tx1">
                    <a:tint val="75000"/>
                  </a:schemeClr>
                </a:solidFill>
              </a:defRPr>
            </a:lvl2pPr>
            <a:lvl3pPr marL="2138324" indent="0">
              <a:buNone/>
              <a:defRPr sz="4209">
                <a:solidFill>
                  <a:schemeClr val="tx1">
                    <a:tint val="75000"/>
                  </a:schemeClr>
                </a:solidFill>
              </a:defRPr>
            </a:lvl3pPr>
            <a:lvl4pPr marL="3207487" indent="0">
              <a:buNone/>
              <a:defRPr sz="3742">
                <a:solidFill>
                  <a:schemeClr val="tx1">
                    <a:tint val="75000"/>
                  </a:schemeClr>
                </a:solidFill>
              </a:defRPr>
            </a:lvl4pPr>
            <a:lvl5pPr marL="4276649" indent="0">
              <a:buNone/>
              <a:defRPr sz="3742">
                <a:solidFill>
                  <a:schemeClr val="tx1">
                    <a:tint val="75000"/>
                  </a:schemeClr>
                </a:solidFill>
              </a:defRPr>
            </a:lvl5pPr>
            <a:lvl6pPr marL="5345811" indent="0">
              <a:buNone/>
              <a:defRPr sz="3742">
                <a:solidFill>
                  <a:schemeClr val="tx1">
                    <a:tint val="75000"/>
                  </a:schemeClr>
                </a:solidFill>
              </a:defRPr>
            </a:lvl6pPr>
            <a:lvl7pPr marL="6414973" indent="0">
              <a:buNone/>
              <a:defRPr sz="3742">
                <a:solidFill>
                  <a:schemeClr val="tx1">
                    <a:tint val="75000"/>
                  </a:schemeClr>
                </a:solidFill>
              </a:defRPr>
            </a:lvl7pPr>
            <a:lvl8pPr marL="7484135" indent="0">
              <a:buNone/>
              <a:defRPr sz="3742">
                <a:solidFill>
                  <a:schemeClr val="tx1">
                    <a:tint val="75000"/>
                  </a:schemeClr>
                </a:solidFill>
              </a:defRPr>
            </a:lvl8pPr>
            <a:lvl9pPr marL="8553298" indent="0">
              <a:buNone/>
              <a:defRPr sz="374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마스터 텍스트 스타일 편집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10512D-1745-4DC4-BBB4-0C25A2DC44D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26368C2B-BE6A-4123-B1EB-3B148078ED94}" type="datetimeFigureOut">
              <a:t>2026. 9. 9.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838F22-E81B-4657-BCEB-F24F1705F57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25D447-8F70-4DD9-95E1-086F4EB93C7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CFA5EE4-1B2F-4824-B0C8-6C1DBF8DD7E6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C49653-470E-4C18-B984-F816882FC4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마스터 제목 스타일 편집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A5D195-2FC9-4108-9E6B-1C5F02462B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70124" y="8059374"/>
            <a:ext cx="9088041" cy="19209345"/>
          </a:xfrm>
        </p:spPr>
        <p:txBody>
          <a:bodyPr/>
          <a:lstStyle/>
          <a:p>
            <a:pPr lvl="0">
              <a:buNone/>
            </a:pPr>
            <a:r>
              <a:t>마스터 텍스트 스타일 편집</a:t>
            </a:r>
          </a:p>
          <a:p>
            <a:pPr lvl="1">
              <a:buNone/>
            </a:pPr>
            <a:r>
              <a:t>둘째 수준</a:t>
            </a:r>
          </a:p>
          <a:p>
            <a:pPr lvl="2">
              <a:buNone/>
            </a:pPr>
            <a:r>
              <a:t>셋째 수준</a:t>
            </a:r>
          </a:p>
          <a:p>
            <a:pPr lvl="3">
              <a:buNone/>
            </a:pPr>
            <a:r>
              <a:t>넷째 수준</a:t>
            </a:r>
          </a:p>
          <a:p>
            <a:pPr lvl="4">
              <a:buNone/>
            </a:pPr>
            <a:r>
              <a:t>다섯째 수준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394CE4-01C3-41D9-80B8-1BA109F98F22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10825460" y="8059374"/>
            <a:ext cx="9088041" cy="19209345"/>
          </a:xfrm>
        </p:spPr>
        <p:txBody>
          <a:bodyPr/>
          <a:lstStyle/>
          <a:p>
            <a:pPr lvl="0">
              <a:buNone/>
            </a:pPr>
            <a:r>
              <a:t>마스터 텍스트 스타일 편집</a:t>
            </a:r>
          </a:p>
          <a:p>
            <a:pPr lvl="1">
              <a:buNone/>
            </a:pPr>
            <a:r>
              <a:t>둘째 수준</a:t>
            </a:r>
          </a:p>
          <a:p>
            <a:pPr lvl="2">
              <a:buNone/>
            </a:pPr>
            <a:r>
              <a:t>셋째 수준</a:t>
            </a:r>
          </a:p>
          <a:p>
            <a:pPr lvl="3">
              <a:buNone/>
            </a:pPr>
            <a:r>
              <a:t>넷째 수준</a:t>
            </a:r>
          </a:p>
          <a:p>
            <a:pPr lvl="4">
              <a:buNone/>
            </a:pPr>
            <a:r>
              <a:t>다섯째 수준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6F2D50-3880-4AE2-BA38-C06D2A0F3E9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26368C2B-BE6A-4123-B1EB-3B148078ED94}" type="datetimeFigureOut">
              <a:t>2026. 9. 9.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7C091E-6C5F-4ABA-8D81-113D198EB31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39ACE1-5267-471D-AA4C-6F9BF1BEDFD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CFA5EE4-1B2F-4824-B0C8-6C1DBF8DD7E6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6801A-935B-4A71-943D-A91EA3F221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2909" y="1611882"/>
            <a:ext cx="18443377" cy="5851808"/>
          </a:xfrm>
        </p:spPr>
        <p:txBody>
          <a:bodyPr/>
          <a:lstStyle/>
          <a:p>
            <a:r>
              <a:t>마스터 제목 스타일 편집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D01BA5-ECFF-40D1-B401-DED14310DF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72912" y="7421634"/>
            <a:ext cx="9046274" cy="3637228"/>
          </a:xfrm>
        </p:spPr>
        <p:txBody>
          <a:bodyPr anchor="b"/>
          <a:lstStyle>
            <a:lvl1pPr marL="0" indent="0">
              <a:buNone/>
              <a:defRPr sz="5612" b="1"/>
            </a:lvl1pPr>
            <a:lvl2pPr marL="1069162" indent="0">
              <a:buNone/>
              <a:defRPr sz="4677" b="1"/>
            </a:lvl2pPr>
            <a:lvl3pPr marL="2138324" indent="0">
              <a:buNone/>
              <a:defRPr sz="4209" b="1"/>
            </a:lvl3pPr>
            <a:lvl4pPr marL="3207487" indent="0">
              <a:buNone/>
              <a:defRPr sz="3742" b="1"/>
            </a:lvl4pPr>
            <a:lvl5pPr marL="4276649" indent="0">
              <a:buNone/>
              <a:defRPr sz="3742" b="1"/>
            </a:lvl5pPr>
            <a:lvl6pPr marL="5345811" indent="0">
              <a:buNone/>
              <a:defRPr sz="3742" b="1"/>
            </a:lvl6pPr>
            <a:lvl7pPr marL="6414973" indent="0">
              <a:buNone/>
              <a:defRPr sz="3742" b="1"/>
            </a:lvl7pPr>
            <a:lvl8pPr marL="7484135" indent="0">
              <a:buNone/>
              <a:defRPr sz="3742" b="1"/>
            </a:lvl8pPr>
            <a:lvl9pPr marL="8553298" indent="0">
              <a:buNone/>
              <a:defRPr sz="3742" b="1"/>
            </a:lvl9pPr>
          </a:lstStyle>
          <a:p>
            <a:pPr lvl="0">
              <a:buNone/>
            </a:pPr>
            <a:r>
              <a:t>마스터 텍스트 스타일 편집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C3E251-4D60-4BEC-A68B-FF35FC67B188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1472912" y="11058863"/>
            <a:ext cx="9046274" cy="16265921"/>
          </a:xfrm>
        </p:spPr>
        <p:txBody>
          <a:bodyPr/>
          <a:lstStyle/>
          <a:p>
            <a:pPr lvl="0">
              <a:buNone/>
            </a:pPr>
            <a:r>
              <a:t>마스터 텍스트 스타일 편집</a:t>
            </a:r>
          </a:p>
          <a:p>
            <a:pPr lvl="1">
              <a:buNone/>
            </a:pPr>
            <a:r>
              <a:t>둘째 수준</a:t>
            </a:r>
          </a:p>
          <a:p>
            <a:pPr lvl="2">
              <a:buNone/>
            </a:pPr>
            <a:r>
              <a:t>셋째 수준</a:t>
            </a:r>
          </a:p>
          <a:p>
            <a:pPr lvl="3">
              <a:buNone/>
            </a:pPr>
            <a:r>
              <a:t>넷째 수준</a:t>
            </a:r>
          </a:p>
          <a:p>
            <a:pPr lvl="4">
              <a:buNone/>
            </a:pPr>
            <a:r>
              <a:t>다섯째 수준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1775E05-5BA9-4A04-850F-BE093A140B06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10825461" y="7421634"/>
            <a:ext cx="9090826" cy="3637228"/>
          </a:xfrm>
        </p:spPr>
        <p:txBody>
          <a:bodyPr anchor="b"/>
          <a:lstStyle>
            <a:lvl1pPr marL="0" indent="0">
              <a:buNone/>
              <a:defRPr sz="5612" b="1"/>
            </a:lvl1pPr>
            <a:lvl2pPr marL="1069162" indent="0">
              <a:buNone/>
              <a:defRPr sz="4677" b="1"/>
            </a:lvl2pPr>
            <a:lvl3pPr marL="2138324" indent="0">
              <a:buNone/>
              <a:defRPr sz="4209" b="1"/>
            </a:lvl3pPr>
            <a:lvl4pPr marL="3207487" indent="0">
              <a:buNone/>
              <a:defRPr sz="3742" b="1"/>
            </a:lvl4pPr>
            <a:lvl5pPr marL="4276649" indent="0">
              <a:buNone/>
              <a:defRPr sz="3742" b="1"/>
            </a:lvl5pPr>
            <a:lvl6pPr marL="5345811" indent="0">
              <a:buNone/>
              <a:defRPr sz="3742" b="1"/>
            </a:lvl6pPr>
            <a:lvl7pPr marL="6414973" indent="0">
              <a:buNone/>
              <a:defRPr sz="3742" b="1"/>
            </a:lvl7pPr>
            <a:lvl8pPr marL="7484135" indent="0">
              <a:buNone/>
              <a:defRPr sz="3742" b="1"/>
            </a:lvl8pPr>
            <a:lvl9pPr marL="8553298" indent="0">
              <a:buNone/>
              <a:defRPr sz="3742" b="1"/>
            </a:lvl9pPr>
          </a:lstStyle>
          <a:p>
            <a:pPr lvl="0">
              <a:buNone/>
            </a:pPr>
            <a:r>
              <a:t>마스터 텍스트 스타일 편집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D054F6-9DBC-4455-B633-6D841E443694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10825461" y="11058863"/>
            <a:ext cx="9090826" cy="16265921"/>
          </a:xfrm>
        </p:spPr>
        <p:txBody>
          <a:bodyPr/>
          <a:lstStyle/>
          <a:p>
            <a:pPr lvl="0">
              <a:buNone/>
            </a:pPr>
            <a:r>
              <a:t>마스터 텍스트 스타일 편집</a:t>
            </a:r>
          </a:p>
          <a:p>
            <a:pPr lvl="1">
              <a:buNone/>
            </a:pPr>
            <a:r>
              <a:t>둘째 수준</a:t>
            </a:r>
          </a:p>
          <a:p>
            <a:pPr lvl="2">
              <a:buNone/>
            </a:pPr>
            <a:r>
              <a:t>셋째 수준</a:t>
            </a:r>
          </a:p>
          <a:p>
            <a:pPr lvl="3">
              <a:buNone/>
            </a:pPr>
            <a:r>
              <a:t>넷째 수준</a:t>
            </a:r>
          </a:p>
          <a:p>
            <a:pPr lvl="4">
              <a:buNone/>
            </a:pPr>
            <a:r>
              <a:t>다섯째 수준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BA05158-D407-4C23-B6B5-214C97F9196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26368C2B-BE6A-4123-B1EB-3B148078ED94}" type="datetimeFigureOut">
              <a:t>2026. 9. 9.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716CA41-9C98-4151-8024-D13CF05D68E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65FDF18-01C7-44D5-8C5A-DD5597F77F1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CFA5EE4-1B2F-4824-B0C8-6C1DBF8DD7E6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396448-FA28-49D4-AD6D-CCF004171F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마스터 제목 스타일 편집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4506398-A9CD-440C-AF7D-D0D5F67D958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26368C2B-BE6A-4123-B1EB-3B148078ED94}" type="datetimeFigureOut">
              <a:t>2026. 9. 9.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55AB40-8382-468A-8151-7768A48ECC5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11F849-6B4E-428D-8378-033AFDA1329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CFA5EE4-1B2F-4824-B0C8-6C1DBF8DD7E6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8941EE0-EE4A-4017-9CCF-CE26CD55236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26368C2B-BE6A-4123-B1EB-3B148078ED94}" type="datetimeFigureOut">
              <a:t>2026. 9. 9.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58ED8F2-E9B8-463D-A536-2E88766EE1C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E4DFC3-8F01-4223-91E6-AEF9AEA5000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CFA5EE4-1B2F-4824-B0C8-6C1DBF8DD7E6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1A4BB-D0E8-4B82-A501-26C8D418D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2909" y="2018348"/>
            <a:ext cx="6896776" cy="7064216"/>
          </a:xfrm>
        </p:spPr>
        <p:txBody>
          <a:bodyPr anchor="b"/>
          <a:lstStyle>
            <a:lvl1pPr>
              <a:buNone/>
              <a:defRPr sz="7483"/>
            </a:lvl1pPr>
          </a:lstStyle>
          <a:p>
            <a:r>
              <a:t>마스터 제목 스타일 편집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8B3904-B51E-46CB-A772-C04A2CE611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90826" y="4359077"/>
            <a:ext cx="10825460" cy="21515024"/>
          </a:xfrm>
        </p:spPr>
        <p:txBody>
          <a:bodyPr/>
          <a:lstStyle>
            <a:lvl1pPr>
              <a:buNone/>
              <a:defRPr sz="7483"/>
            </a:lvl1pPr>
            <a:lvl2pPr>
              <a:buNone/>
              <a:defRPr sz="6548"/>
            </a:lvl2pPr>
            <a:lvl3pPr>
              <a:buNone/>
              <a:defRPr sz="5612"/>
            </a:lvl3pPr>
            <a:lvl4pPr>
              <a:buNone/>
              <a:defRPr sz="4677"/>
            </a:lvl4pPr>
            <a:lvl5pPr>
              <a:buNone/>
              <a:defRPr sz="4677"/>
            </a:lvl5pPr>
            <a:lvl6pPr>
              <a:buNone/>
              <a:defRPr sz="4677"/>
            </a:lvl6pPr>
            <a:lvl7pPr>
              <a:buNone/>
              <a:defRPr sz="4677"/>
            </a:lvl7pPr>
            <a:lvl8pPr>
              <a:buNone/>
              <a:defRPr sz="4677"/>
            </a:lvl8pPr>
            <a:lvl9pPr>
              <a:buNone/>
              <a:defRPr sz="4677"/>
            </a:lvl9pPr>
          </a:lstStyle>
          <a:p>
            <a:pPr lvl="0">
              <a:buNone/>
            </a:pPr>
            <a:r>
              <a:t>마스터 텍스트 스타일 편집</a:t>
            </a:r>
          </a:p>
          <a:p>
            <a:pPr lvl="1">
              <a:buNone/>
            </a:pPr>
            <a:r>
              <a:t>둘째 수준</a:t>
            </a:r>
          </a:p>
          <a:p>
            <a:pPr lvl="2">
              <a:buNone/>
            </a:pPr>
            <a:r>
              <a:t>셋째 수준</a:t>
            </a:r>
          </a:p>
          <a:p>
            <a:pPr lvl="3">
              <a:buNone/>
            </a:pPr>
            <a:r>
              <a:t>넷째 수준</a:t>
            </a:r>
          </a:p>
          <a:p>
            <a:pPr lvl="4">
              <a:buNone/>
            </a:pPr>
            <a:r>
              <a:t>다섯째 수준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67DB92-6826-4DF6-B24F-3DF86379292A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472909" y="9082564"/>
            <a:ext cx="6896776" cy="16826573"/>
          </a:xfrm>
        </p:spPr>
        <p:txBody>
          <a:bodyPr/>
          <a:lstStyle>
            <a:lvl1pPr marL="0" indent="0">
              <a:buNone/>
              <a:defRPr sz="3742"/>
            </a:lvl1pPr>
            <a:lvl2pPr marL="1069162" indent="0">
              <a:buNone/>
              <a:defRPr sz="3274"/>
            </a:lvl2pPr>
            <a:lvl3pPr marL="2138324" indent="0">
              <a:buNone/>
              <a:defRPr sz="2806"/>
            </a:lvl3pPr>
            <a:lvl4pPr marL="3207487" indent="0">
              <a:buNone/>
              <a:defRPr sz="2339"/>
            </a:lvl4pPr>
            <a:lvl5pPr marL="4276649" indent="0">
              <a:buNone/>
              <a:defRPr sz="2339"/>
            </a:lvl5pPr>
            <a:lvl6pPr marL="5345811" indent="0">
              <a:buNone/>
              <a:defRPr sz="2339"/>
            </a:lvl6pPr>
            <a:lvl7pPr marL="6414973" indent="0">
              <a:buNone/>
              <a:defRPr sz="2339"/>
            </a:lvl7pPr>
            <a:lvl8pPr marL="7484135" indent="0">
              <a:buNone/>
              <a:defRPr sz="2339"/>
            </a:lvl8pPr>
            <a:lvl9pPr marL="8553298" indent="0">
              <a:buNone/>
              <a:defRPr sz="2339"/>
            </a:lvl9pPr>
          </a:lstStyle>
          <a:p>
            <a:pPr lvl="0">
              <a:buNone/>
            </a:pPr>
            <a:r>
              <a:t>마스터 텍스트 스타일 편집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9C73A6-277F-4950-B3CF-08090125424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26368C2B-BE6A-4123-B1EB-3B148078ED94}" type="datetimeFigureOut">
              <a:t>2026. 9. 9.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02D18C-4A7C-4848-8227-C2AAB6B04B0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3539FA-18A7-4B14-8E18-7163DFC46D5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CFA5EE4-1B2F-4824-B0C8-6C1DBF8DD7E6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17B936-72FC-47B8-A271-E8C3AA034C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2909" y="2018348"/>
            <a:ext cx="6896776" cy="7064216"/>
          </a:xfrm>
        </p:spPr>
        <p:txBody>
          <a:bodyPr anchor="b"/>
          <a:lstStyle>
            <a:lvl1pPr>
              <a:buNone/>
              <a:defRPr sz="7483"/>
            </a:lvl1pPr>
          </a:lstStyle>
          <a:p>
            <a:r>
              <a:t>마스터 제목 스타일 편집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5AFF74-2989-4709-B9FA-DD30A67678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090826" y="4359077"/>
            <a:ext cx="10825460" cy="21515024"/>
          </a:xfrm>
        </p:spPr>
        <p:txBody>
          <a:bodyPr anchor="t"/>
          <a:lstStyle>
            <a:lvl1pPr marL="0" indent="0">
              <a:buNone/>
              <a:defRPr sz="7483"/>
            </a:lvl1pPr>
            <a:lvl2pPr marL="1069162" indent="0">
              <a:buNone/>
              <a:defRPr sz="6548"/>
            </a:lvl2pPr>
            <a:lvl3pPr marL="2138324" indent="0">
              <a:buNone/>
              <a:defRPr sz="5612"/>
            </a:lvl3pPr>
            <a:lvl4pPr marL="3207487" indent="0">
              <a:buNone/>
              <a:defRPr sz="4677"/>
            </a:lvl4pPr>
            <a:lvl5pPr marL="4276649" indent="0">
              <a:buNone/>
              <a:defRPr sz="4677"/>
            </a:lvl5pPr>
            <a:lvl6pPr marL="5345811" indent="0">
              <a:buNone/>
              <a:defRPr sz="4677"/>
            </a:lvl6pPr>
            <a:lvl7pPr marL="6414973" indent="0">
              <a:buNone/>
              <a:defRPr sz="4677"/>
            </a:lvl7pPr>
            <a:lvl8pPr marL="7484135" indent="0">
              <a:buNone/>
              <a:defRPr sz="4677"/>
            </a:lvl8pPr>
            <a:lvl9pPr marL="8553298" indent="0">
              <a:buNone/>
              <a:defRPr sz="4677"/>
            </a:lvl9pPr>
          </a:lstStyle>
          <a:p>
            <a:r>
              <a:t>그림을 추가하려면 아이콘을 클릭하십시오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1BC01D-9B5C-4D8B-9ABD-38569B4290B6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472909" y="9082564"/>
            <a:ext cx="6896776" cy="16826573"/>
          </a:xfrm>
        </p:spPr>
        <p:txBody>
          <a:bodyPr/>
          <a:lstStyle>
            <a:lvl1pPr marL="0" indent="0">
              <a:buNone/>
              <a:defRPr sz="3742"/>
            </a:lvl1pPr>
            <a:lvl2pPr marL="1069162" indent="0">
              <a:buNone/>
              <a:defRPr sz="3274"/>
            </a:lvl2pPr>
            <a:lvl3pPr marL="2138324" indent="0">
              <a:buNone/>
              <a:defRPr sz="2806"/>
            </a:lvl3pPr>
            <a:lvl4pPr marL="3207487" indent="0">
              <a:buNone/>
              <a:defRPr sz="2339"/>
            </a:lvl4pPr>
            <a:lvl5pPr marL="4276649" indent="0">
              <a:buNone/>
              <a:defRPr sz="2339"/>
            </a:lvl5pPr>
            <a:lvl6pPr marL="5345811" indent="0">
              <a:buNone/>
              <a:defRPr sz="2339"/>
            </a:lvl6pPr>
            <a:lvl7pPr marL="6414973" indent="0">
              <a:buNone/>
              <a:defRPr sz="2339"/>
            </a:lvl7pPr>
            <a:lvl8pPr marL="7484135" indent="0">
              <a:buNone/>
              <a:defRPr sz="2339"/>
            </a:lvl8pPr>
            <a:lvl9pPr marL="8553298" indent="0">
              <a:buNone/>
              <a:defRPr sz="2339"/>
            </a:lvl9pPr>
          </a:lstStyle>
          <a:p>
            <a:pPr lvl="0">
              <a:buNone/>
            </a:pPr>
            <a:r>
              <a:t>마스터 텍스트 스타일 편집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99519C-1D6F-4BF3-802E-EEC22A4F169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26368C2B-BE6A-4123-B1EB-3B148078ED94}" type="datetimeFigureOut">
              <a:t>2026. 9. 9.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36875A-4F64-4778-9180-0D65E86177E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356694-0B83-4AF4-B15C-46F1B5312D9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CFA5EE4-1B2F-4824-B0C8-6C1DBF8DD7E6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D7C916-05BC-4DB2-BB87-25ECD4A197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마스터 제목 스타일 편집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1CDF1D-B904-4460-B80B-7A0B22FB56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마스터 텍스트 스타일 편집</a:t>
            </a:r>
          </a:p>
          <a:p>
            <a:pPr lvl="1">
              <a:buNone/>
            </a:pPr>
            <a:r>
              <a:t>둘째 수준</a:t>
            </a:r>
          </a:p>
          <a:p>
            <a:pPr lvl="2">
              <a:buNone/>
            </a:pPr>
            <a:r>
              <a:t>셋째 수준</a:t>
            </a:r>
          </a:p>
          <a:p>
            <a:pPr lvl="3">
              <a:buNone/>
            </a:pPr>
            <a:r>
              <a:t>넷째 수준</a:t>
            </a:r>
          </a:p>
          <a:p>
            <a:pPr lvl="4">
              <a:buNone/>
            </a:pPr>
            <a:r>
              <a:t>다섯째 수준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A9BDA7-EA95-4561-8472-7A38A37860E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26368C2B-BE6A-4123-B1EB-3B148078ED94}" type="datetimeFigureOut">
              <a:t>2026. 9. 9.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93B30D-19EA-4BC4-82B4-B5D6E18BB62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B6220F-421F-44B3-818E-95FE0EDF1F8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CFA5EE4-1B2F-4824-B0C8-6C1DBF8DD7E6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5C85D9D-1193-44E1-8301-517C94B78A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02658" y="1611875"/>
            <a:ext cx="4610844" cy="25656844"/>
          </a:xfrm>
        </p:spPr>
        <p:txBody>
          <a:bodyPr vert="eaVert"/>
          <a:lstStyle/>
          <a:p>
            <a:r>
              <a:t>마스터 제목 스타일 편집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CC5278-6960-490C-9787-E7CB529E2A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70125" y="1611875"/>
            <a:ext cx="13565237" cy="25656844"/>
          </a:xfrm>
        </p:spPr>
        <p:txBody>
          <a:bodyPr vert="eaVert"/>
          <a:lstStyle/>
          <a:p>
            <a:pPr lvl="0">
              <a:buNone/>
            </a:pPr>
            <a:r>
              <a:t>마스터 텍스트 스타일 편집</a:t>
            </a:r>
          </a:p>
          <a:p>
            <a:pPr lvl="1">
              <a:buNone/>
            </a:pPr>
            <a:r>
              <a:t>둘째 수준</a:t>
            </a:r>
          </a:p>
          <a:p>
            <a:pPr lvl="2">
              <a:buNone/>
            </a:pPr>
            <a:r>
              <a:t>셋째 수준</a:t>
            </a:r>
          </a:p>
          <a:p>
            <a:pPr lvl="3">
              <a:buNone/>
            </a:pPr>
            <a:r>
              <a:t>넷째 수준</a:t>
            </a:r>
          </a:p>
          <a:p>
            <a:pPr lvl="4">
              <a:buNone/>
            </a:pPr>
            <a:r>
              <a:t>다섯째 수준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56B879-7C8C-4675-ACF3-D019EFA0120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26368C2B-BE6A-4123-B1EB-3B148078ED94}" type="datetimeFigureOut">
              <a:t>2026. 9. 9.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F477DB-5BEF-47EA-B3CB-408D0FD4630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B6A8BB-B514-40E8-ADC6-77237096482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CFA5EE4-1B2F-4824-B0C8-6C1DBF8DD7E6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03AE675-8A3F-4FC9-A2DF-006FBB4042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0124" y="1611882"/>
            <a:ext cx="18443377" cy="5851808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마스터 제목 스타일 편집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DF36A0-416F-4F7B-B02A-F81E6C914B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70124" y="8059374"/>
            <a:ext cx="18443377" cy="19209345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마스터 텍스트 스타일 편집</a:t>
            </a:r>
          </a:p>
          <a:p>
            <a:pPr lvl="1">
              <a:buNone/>
            </a:pPr>
            <a:r>
              <a:t>둘째 수준</a:t>
            </a:r>
          </a:p>
          <a:p>
            <a:pPr lvl="2">
              <a:buNone/>
            </a:pPr>
            <a:r>
              <a:t>셋째 수준</a:t>
            </a:r>
          </a:p>
          <a:p>
            <a:pPr lvl="3">
              <a:buNone/>
            </a:pPr>
            <a:r>
              <a:t>넷째 수준</a:t>
            </a:r>
          </a:p>
          <a:p>
            <a:pPr lvl="4">
              <a:buNone/>
            </a:pPr>
            <a:r>
              <a:t>다섯째 수준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C9D97B-A971-4207-886F-0285B9E891C4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1470124" y="28060644"/>
            <a:ext cx="4811316" cy="161187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280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368C2B-BE6A-4123-B1EB-3B148078ED94}" type="datetimeFigureOut">
              <a:t>2026. 9. 9.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2E706C-705F-4CE7-91C3-5C30C3F0204B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7083326" y="28060644"/>
            <a:ext cx="7216973" cy="161187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280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0219F7-F415-47B3-82A6-CCEBA8B768CA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5102185" y="28060644"/>
            <a:ext cx="4811316" cy="161187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280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FA5EE4-1B2F-4824-B0C8-6C1DBF8DD7E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2138324">
        <a:lnSpc>
          <a:spcPct val="90000"/>
        </a:lnSpc>
        <a:spcBef>
          <a:spcPct val="0"/>
        </a:spcBef>
        <a:buNone/>
        <a:defRPr sz="10289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534581" indent="-534581" algn="l" defTabSz="2138324">
        <a:lnSpc>
          <a:spcPct val="90000"/>
        </a:lnSpc>
        <a:spcBef>
          <a:spcPts val="2339"/>
        </a:spcBef>
        <a:buFont typeface="Arial"/>
        <a:buChar char="•"/>
        <a:defRPr sz="6548" kern="1200">
          <a:solidFill>
            <a:schemeClr val="tx1"/>
          </a:solidFill>
          <a:latin typeface="+mn-lt"/>
          <a:ea typeface="+mn-lt"/>
          <a:cs typeface="+mn-lt"/>
        </a:defRPr>
      </a:lvl1pPr>
      <a:lvl2pPr marL="1603743" indent="-534581" algn="l" defTabSz="2138324">
        <a:lnSpc>
          <a:spcPct val="90000"/>
        </a:lnSpc>
        <a:spcBef>
          <a:spcPts val="1169"/>
        </a:spcBef>
        <a:buFont typeface="Arial"/>
        <a:buChar char="•"/>
        <a:defRPr sz="5612" kern="1200">
          <a:solidFill>
            <a:schemeClr val="tx1"/>
          </a:solidFill>
          <a:latin typeface="+mn-lt"/>
          <a:ea typeface="+mn-lt"/>
          <a:cs typeface="+mn-lt"/>
        </a:defRPr>
      </a:lvl2pPr>
      <a:lvl3pPr marL="2672906" indent="-534581" algn="l" defTabSz="2138324">
        <a:lnSpc>
          <a:spcPct val="90000"/>
        </a:lnSpc>
        <a:spcBef>
          <a:spcPts val="1169"/>
        </a:spcBef>
        <a:buFont typeface="Arial"/>
        <a:buChar char="•"/>
        <a:defRPr sz="4677" kern="1200">
          <a:solidFill>
            <a:schemeClr val="tx1"/>
          </a:solidFill>
          <a:latin typeface="+mn-lt"/>
          <a:ea typeface="+mn-lt"/>
          <a:cs typeface="+mn-lt"/>
        </a:defRPr>
      </a:lvl3pPr>
      <a:lvl4pPr marL="3742068" indent="-534581" algn="l" defTabSz="2138324">
        <a:lnSpc>
          <a:spcPct val="90000"/>
        </a:lnSpc>
        <a:spcBef>
          <a:spcPts val="1169"/>
        </a:spcBef>
        <a:buFont typeface="Arial"/>
        <a:buChar char="•"/>
        <a:defRPr sz="4209" kern="1200">
          <a:solidFill>
            <a:schemeClr val="tx1"/>
          </a:solidFill>
          <a:latin typeface="+mn-lt"/>
          <a:ea typeface="+mn-lt"/>
          <a:cs typeface="+mn-lt"/>
        </a:defRPr>
      </a:lvl4pPr>
      <a:lvl5pPr marL="4811230" indent="-534581" algn="l" defTabSz="2138324">
        <a:lnSpc>
          <a:spcPct val="90000"/>
        </a:lnSpc>
        <a:spcBef>
          <a:spcPts val="1169"/>
        </a:spcBef>
        <a:buFont typeface="Arial"/>
        <a:buChar char="•"/>
        <a:defRPr sz="4209" kern="1200">
          <a:solidFill>
            <a:schemeClr val="tx1"/>
          </a:solidFill>
          <a:latin typeface="+mn-lt"/>
          <a:ea typeface="+mn-lt"/>
          <a:cs typeface="+mn-lt"/>
        </a:defRPr>
      </a:lvl5pPr>
      <a:lvl6pPr marL="5880392" indent="-534581" algn="l" defTabSz="2138324">
        <a:lnSpc>
          <a:spcPct val="90000"/>
        </a:lnSpc>
        <a:spcBef>
          <a:spcPts val="1169"/>
        </a:spcBef>
        <a:buFont typeface="Arial"/>
        <a:buChar char="•"/>
        <a:defRPr sz="4209" kern="1200">
          <a:solidFill>
            <a:schemeClr val="tx1"/>
          </a:solidFill>
          <a:latin typeface="+mn-lt"/>
          <a:ea typeface="+mn-lt"/>
          <a:cs typeface="+mn-lt"/>
        </a:defRPr>
      </a:lvl6pPr>
      <a:lvl7pPr marL="6949554" indent="-534581" algn="l" defTabSz="2138324">
        <a:lnSpc>
          <a:spcPct val="90000"/>
        </a:lnSpc>
        <a:spcBef>
          <a:spcPts val="1169"/>
        </a:spcBef>
        <a:buFont typeface="Arial"/>
        <a:buChar char="•"/>
        <a:defRPr sz="4209" kern="1200">
          <a:solidFill>
            <a:schemeClr val="tx1"/>
          </a:solidFill>
          <a:latin typeface="+mn-lt"/>
          <a:ea typeface="+mn-lt"/>
          <a:cs typeface="+mn-lt"/>
        </a:defRPr>
      </a:lvl7pPr>
      <a:lvl8pPr marL="8018717" indent="-534581" algn="l" defTabSz="2138324">
        <a:lnSpc>
          <a:spcPct val="90000"/>
        </a:lnSpc>
        <a:spcBef>
          <a:spcPts val="1169"/>
        </a:spcBef>
        <a:buFont typeface="Arial"/>
        <a:buChar char="•"/>
        <a:defRPr sz="4209" kern="1200">
          <a:solidFill>
            <a:schemeClr val="tx1"/>
          </a:solidFill>
          <a:latin typeface="+mn-lt"/>
          <a:ea typeface="+mn-lt"/>
          <a:cs typeface="+mn-lt"/>
        </a:defRPr>
      </a:lvl8pPr>
      <a:lvl9pPr marL="9087879" indent="-534581" algn="l" defTabSz="2138324">
        <a:lnSpc>
          <a:spcPct val="90000"/>
        </a:lnSpc>
        <a:spcBef>
          <a:spcPts val="1169"/>
        </a:spcBef>
        <a:buFont typeface="Arial"/>
        <a:buChar char="•"/>
        <a:defRPr sz="4209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2138324">
        <a:buNone/>
        <a:defRPr sz="4209" kern="1200">
          <a:solidFill>
            <a:schemeClr val="tx1"/>
          </a:solidFill>
          <a:latin typeface="+mn-lt"/>
          <a:ea typeface="+mn-lt"/>
          <a:cs typeface="+mn-lt"/>
        </a:defRPr>
      </a:lvl1pPr>
      <a:lvl2pPr marL="1069162" algn="l" defTabSz="2138324">
        <a:buNone/>
        <a:defRPr sz="4209" kern="1200">
          <a:solidFill>
            <a:schemeClr val="tx1"/>
          </a:solidFill>
          <a:latin typeface="+mn-lt"/>
          <a:ea typeface="+mn-lt"/>
          <a:cs typeface="+mn-lt"/>
        </a:defRPr>
      </a:lvl2pPr>
      <a:lvl3pPr marL="2138324" algn="l" defTabSz="2138324">
        <a:buNone/>
        <a:defRPr sz="4209" kern="1200">
          <a:solidFill>
            <a:schemeClr val="tx1"/>
          </a:solidFill>
          <a:latin typeface="+mn-lt"/>
          <a:ea typeface="+mn-lt"/>
          <a:cs typeface="+mn-lt"/>
        </a:defRPr>
      </a:lvl3pPr>
      <a:lvl4pPr marL="3207487" algn="l" defTabSz="2138324">
        <a:buNone/>
        <a:defRPr sz="4209" kern="1200">
          <a:solidFill>
            <a:schemeClr val="tx1"/>
          </a:solidFill>
          <a:latin typeface="+mn-lt"/>
          <a:ea typeface="+mn-lt"/>
          <a:cs typeface="+mn-lt"/>
        </a:defRPr>
      </a:lvl4pPr>
      <a:lvl5pPr marL="4276649" algn="l" defTabSz="2138324">
        <a:buNone/>
        <a:defRPr sz="4209" kern="1200">
          <a:solidFill>
            <a:schemeClr val="tx1"/>
          </a:solidFill>
          <a:latin typeface="+mn-lt"/>
          <a:ea typeface="+mn-lt"/>
          <a:cs typeface="+mn-lt"/>
        </a:defRPr>
      </a:lvl5pPr>
      <a:lvl6pPr marL="5345811" algn="l" defTabSz="2138324">
        <a:buNone/>
        <a:defRPr sz="4209" kern="1200">
          <a:solidFill>
            <a:schemeClr val="tx1"/>
          </a:solidFill>
          <a:latin typeface="+mn-lt"/>
          <a:ea typeface="+mn-lt"/>
          <a:cs typeface="+mn-lt"/>
        </a:defRPr>
      </a:lvl6pPr>
      <a:lvl7pPr marL="6414973" algn="l" defTabSz="2138324">
        <a:buNone/>
        <a:defRPr sz="4209" kern="1200">
          <a:solidFill>
            <a:schemeClr val="tx1"/>
          </a:solidFill>
          <a:latin typeface="+mn-lt"/>
          <a:ea typeface="+mn-lt"/>
          <a:cs typeface="+mn-lt"/>
        </a:defRPr>
      </a:lvl7pPr>
      <a:lvl8pPr marL="7484135" algn="l" defTabSz="2138324">
        <a:buNone/>
        <a:defRPr sz="4209" kern="1200">
          <a:solidFill>
            <a:schemeClr val="tx1"/>
          </a:solidFill>
          <a:latin typeface="+mn-lt"/>
          <a:ea typeface="+mn-lt"/>
          <a:cs typeface="+mn-lt"/>
        </a:defRPr>
      </a:lvl8pPr>
      <a:lvl9pPr marL="8553298" algn="l" defTabSz="2138324">
        <a:buNone/>
        <a:defRPr sz="4209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10" Type="http://schemas.openxmlformats.org/officeDocument/2006/relationships/chart" Target="../charts/chart1.xml"/><Relationship Id="rId4" Type="http://schemas.openxmlformats.org/officeDocument/2006/relationships/image" Target="../media/image2.jpe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Box 133">
            <a:extLst>
              <a:ext uri="{FF2B5EF4-FFF2-40B4-BE49-F238E27FC236}">
                <a16:creationId xmlns:a16="http://schemas.microsoft.com/office/drawing/2014/main" id="{F4B84AC0-E4E7-40C0-A01E-60AD154E35AA}"/>
              </a:ext>
            </a:extLst>
          </p:cNvPr>
          <p:cNvSpPr>
            <a:spLocks noGrp="1"/>
          </p:cNvSpPr>
          <p:nvPr/>
        </p:nvSpPr>
        <p:spPr>
          <a:xfrm>
            <a:off x="1029181" y="2101601"/>
            <a:ext cx="1921824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endParaRPr sz="7200" b="1">
              <a:solidFill>
                <a:schemeClr val="bg1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069BC60D-ABFE-4327-8FB8-6DE7A08387C7}"/>
              </a:ext>
            </a:extLst>
          </p:cNvPr>
          <p:cNvSpPr>
            <a:spLocks noGrp="1"/>
          </p:cNvSpPr>
          <p:nvPr/>
        </p:nvSpPr>
        <p:spPr>
          <a:xfrm>
            <a:off x="6549768" y="4136539"/>
            <a:ext cx="723275" cy="415498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>
              <a:buNone/>
              <a:defRPr sz="1575">
                <a:solidFill>
                  <a:srgbClr val="1821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>
                <a:solidFill>
                  <a:srgbClr val="18212D"/>
                </a:solidFill>
                <a:latin typeface="Apple SD Gothic Neo"/>
                <a:ea typeface="Apple SD Gothic Neo"/>
                <a:cs typeface="Apple SD Gothic Neo"/>
              </a:rPr>
              <a:t>팀명</a:t>
            </a:r>
            <a:endParaRPr sz="2100">
              <a:latin typeface="+mj-ea"/>
              <a:ea typeface="+mj-ea"/>
              <a:cs typeface="+mj-ea"/>
            </a:endParaRPr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CC4C95D3-81F7-419A-A333-5EFCC34267E0}"/>
              </a:ext>
            </a:extLst>
          </p:cNvPr>
          <p:cNvSpPr>
            <a:spLocks noGrp="1"/>
          </p:cNvSpPr>
          <p:nvPr/>
        </p:nvSpPr>
        <p:spPr>
          <a:xfrm>
            <a:off x="10007363" y="4136539"/>
            <a:ext cx="1261884" cy="415498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>
              <a:buNone/>
              <a:defRPr sz="1575">
                <a:solidFill>
                  <a:srgbClr val="1821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>
                <a:solidFill>
                  <a:srgbClr val="18212D"/>
                </a:solidFill>
                <a:latin typeface="Apple SD Gothic Neo"/>
                <a:ea typeface="Apple SD Gothic Neo"/>
                <a:cs typeface="Apple SD Gothic Neo"/>
              </a:rPr>
              <a:t>참여학생</a:t>
            </a:r>
            <a:endParaRPr sz="2100">
              <a:latin typeface="+mj-ea"/>
              <a:ea typeface="+mj-ea"/>
              <a:cs typeface="+mj-ea"/>
            </a:endParaRPr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8B8D9906-994B-4762-A683-37C3E4A47985}"/>
              </a:ext>
            </a:extLst>
          </p:cNvPr>
          <p:cNvSpPr>
            <a:spLocks noGrp="1"/>
          </p:cNvSpPr>
          <p:nvPr/>
        </p:nvSpPr>
        <p:spPr>
          <a:xfrm>
            <a:off x="16783660" y="4136539"/>
            <a:ext cx="1261884" cy="415498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>
              <a:buNone/>
              <a:defRPr sz="1575">
                <a:solidFill>
                  <a:srgbClr val="1821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>
                <a:solidFill>
                  <a:srgbClr val="18212D"/>
                </a:solidFill>
                <a:latin typeface="Apple SD Gothic Neo"/>
                <a:ea typeface="Apple SD Gothic Neo"/>
                <a:cs typeface="Apple SD Gothic Neo"/>
              </a:rPr>
              <a:t>지도교수</a:t>
            </a:r>
            <a:endParaRPr sz="2100">
              <a:latin typeface="+mj-ea"/>
              <a:ea typeface="+mj-ea"/>
              <a:cs typeface="+mj-ea"/>
            </a:endParaRPr>
          </a:p>
        </p:txBody>
      </p:sp>
      <p:pic>
        <p:nvPicPr>
          <p:cNvPr id="276" name="그림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212" y="5079862"/>
            <a:ext cx="19949201" cy="75895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A7D4B92-A007-43E5-B29D-6CFE3705CC8B}"/>
              </a:ext>
            </a:extLst>
          </p:cNvPr>
          <p:cNvSpPr>
            <a:spLocks noGrp="1"/>
          </p:cNvSpPr>
          <p:nvPr/>
        </p:nvSpPr>
        <p:spPr>
          <a:xfrm>
            <a:off x="8582437" y="5197729"/>
            <a:ext cx="4218750" cy="584775"/>
          </a:xfrm>
          <a:prstGeom prst="rect">
            <a:avLst/>
          </a:prstGeom>
          <a:solidFill>
            <a:srgbClr val="F08213"/>
          </a:solidFill>
        </p:spPr>
        <p:txBody>
          <a:bodyPr wrap="square">
            <a:spAutoFit/>
          </a:bodyPr>
          <a:lstStyle/>
          <a:p>
            <a:pPr algn="ctr">
              <a:buNone/>
            </a:pPr>
            <a:endParaRPr sz="3200" b="1">
              <a:solidFill>
                <a:schemeClr val="bg1"/>
              </a:solidFill>
            </a:endParaRPr>
          </a:p>
        </p:txBody>
      </p:sp>
      <p:pic>
        <p:nvPicPr>
          <p:cNvPr id="278" name="그림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21364163" cy="616882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0052E53-171C-4338-BC69-015F87235CED}"/>
              </a:ext>
            </a:extLst>
          </p:cNvPr>
          <p:cNvSpPr>
            <a:spLocks noGrp="1"/>
          </p:cNvSpPr>
          <p:nvPr/>
        </p:nvSpPr>
        <p:spPr>
          <a:xfrm>
            <a:off x="7099300" y="4254500"/>
            <a:ext cx="2557110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buNone/>
              <a:defRPr sz="1875" b="1">
                <a:solidFill>
                  <a:srgbClr val="1821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 spc="-150">
                <a:solidFill>
                  <a:srgbClr val="18212D"/>
                </a:solidFill>
                <a:latin typeface="Apple SD Gothic Neo"/>
                <a:ea typeface="Apple SD Gothic Neo"/>
                <a:cs typeface="Apple SD Gothic Neo"/>
              </a:rPr>
              <a:t>ScanOps</a:t>
            </a:r>
            <a:endParaRPr sz="2000" b="1" spc="-15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CCC5DA3-A597-4373-A632-8D9DD57EAC9D}"/>
              </a:ext>
            </a:extLst>
          </p:cNvPr>
          <p:cNvSpPr>
            <a:spLocks noGrp="1"/>
          </p:cNvSpPr>
          <p:nvPr/>
        </p:nvSpPr>
        <p:spPr>
          <a:xfrm>
            <a:off x="18275300" y="4254500"/>
            <a:ext cx="954107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buNone/>
              <a:defRPr sz="1875" b="1">
                <a:solidFill>
                  <a:srgbClr val="1821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18212D"/>
                </a:solidFill>
                <a:latin typeface="Apple SD Gothic Neo"/>
                <a:ea typeface="Apple SD Gothic Neo"/>
                <a:cs typeface="Apple SD Gothic Neo"/>
              </a:rPr>
              <a:t>손준영</a:t>
            </a:r>
            <a:endParaRPr sz="2000" b="1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D8F9E38-BC3B-4DC2-9328-2E23E5DD5871}"/>
              </a:ext>
            </a:extLst>
          </p:cNvPr>
          <p:cNvSpPr>
            <a:spLocks noGrp="1"/>
          </p:cNvSpPr>
          <p:nvPr/>
        </p:nvSpPr>
        <p:spPr>
          <a:xfrm>
            <a:off x="10909300" y="4254500"/>
            <a:ext cx="2739853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buNone/>
              <a:defRPr sz="1875" b="1">
                <a:solidFill>
                  <a:srgbClr val="1821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18212D"/>
                </a:solidFill>
                <a:latin typeface="Apple SD Gothic Neo"/>
                <a:ea typeface="Apple SD Gothic Neo"/>
                <a:cs typeface="Apple SD Gothic Neo"/>
              </a:rPr>
              <a:t>김세한, 이경윤, 전혜은</a:t>
            </a:r>
            <a:endParaRPr sz="2000" b="1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9D70C0D-948F-440D-9C68-8180EF711F78}"/>
              </a:ext>
            </a:extLst>
          </p:cNvPr>
          <p:cNvSpPr>
            <a:spLocks noGrp="1"/>
          </p:cNvSpPr>
          <p:nvPr/>
        </p:nvSpPr>
        <p:spPr>
          <a:xfrm>
            <a:off x="4959351" y="1471570"/>
            <a:ext cx="14452600" cy="19389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buNone/>
              <a:defRPr sz="41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125" b="1" spc="-15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Unicode MS"/>
                <a:ea typeface="Arial Unicode MS"/>
                <a:cs typeface="Arial Unicode MS"/>
              </a:rPr>
              <a:t>CPG와 대규모 언어모델을 결합한</a:t>
            </a:r>
            <a:endParaRPr sz="6000" b="1" spc="-15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  <a:cs typeface="+mj-ea"/>
            </a:endParaRPr>
          </a:p>
          <a:p>
            <a:pPr algn="l">
              <a:lnSpc>
                <a:spcPct val="115000"/>
              </a:lnSpc>
              <a:buNone/>
              <a:defRPr sz="41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125" b="1" spc="-15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Unicode MS"/>
                <a:ea typeface="Arial Unicode MS"/>
                <a:cs typeface="Arial Unicode MS"/>
              </a:rPr>
              <a:t>Java 소스코드 보안 취약점 탐지 시스템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8714C95-091E-434B-BA83-2DC1DE3600FA}"/>
              </a:ext>
            </a:extLst>
          </p:cNvPr>
          <p:cNvSpPr>
            <a:spLocks noGrp="1"/>
          </p:cNvSpPr>
          <p:nvPr/>
        </p:nvSpPr>
        <p:spPr>
          <a:xfrm>
            <a:off x="1666875" y="1143000"/>
            <a:ext cx="3000375" cy="26212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buNone/>
              <a:defRPr sz="138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875" b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Unicode MS"/>
                <a:ea typeface="Arial Unicode MS"/>
                <a:cs typeface="Arial Unicode MS"/>
              </a:rPr>
              <a:t>41</a:t>
            </a:r>
            <a:endParaRPr sz="1660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Franklin Gothic Demi"/>
              <a:ea typeface="Franklin Gothic Demi"/>
              <a:cs typeface="Franklin Gothic Demi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EBFB326-E589-4700-8587-B439E2EF4F6C}"/>
              </a:ext>
            </a:extLst>
          </p:cNvPr>
          <p:cNvSpPr>
            <a:spLocks noGrp="1"/>
          </p:cNvSpPr>
          <p:nvPr/>
        </p:nvSpPr>
        <p:spPr>
          <a:xfrm>
            <a:off x="8429625" y="5400580"/>
            <a:ext cx="4524375" cy="5847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buNone/>
              <a:defRPr sz="21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lang="ko-KR" altLang="en-US" sz="3200" b="1" dirty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연구 개요</a:t>
            </a:r>
            <a:endParaRPr sz="3200" b="1" dirty="0">
              <a:solidFill>
                <a:schemeClr val="bg1"/>
              </a:solidFill>
            </a:endParaRPr>
          </a:p>
        </p:txBody>
      </p:sp>
      <p:pic>
        <p:nvPicPr>
          <p:cNvPr id="285" name="그림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3314926"/>
            <a:ext cx="21383625" cy="902160"/>
          </a:xfrm>
          <a:prstGeom prst="rect">
            <a:avLst/>
          </a:prstGeom>
        </p:spPr>
      </p:pic>
      <p:pic>
        <p:nvPicPr>
          <p:cNvPr id="286" name="그림 2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2649426"/>
            <a:ext cx="21383625" cy="902160"/>
          </a:xfrm>
          <a:prstGeom prst="rect">
            <a:avLst/>
          </a:prstGeom>
        </p:spPr>
      </p:pic>
      <p:pic>
        <p:nvPicPr>
          <p:cNvPr id="287" name="그림 3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28367267"/>
            <a:ext cx="21383625" cy="1907946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D5BA869F-D386-4021-8D13-3E33820AF9AD}"/>
              </a:ext>
            </a:extLst>
          </p:cNvPr>
          <p:cNvSpPr>
            <a:spLocks noGrp="1"/>
          </p:cNvSpPr>
          <p:nvPr/>
        </p:nvSpPr>
        <p:spPr>
          <a:xfrm>
            <a:off x="618674" y="28767317"/>
            <a:ext cx="1140056" cy="523220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sz="2800">
                <a:solidFill>
                  <a:schemeClr val="bg1">
                    <a:lumMod val="50000"/>
                  </a:schemeClr>
                </a:solidFill>
                <a:latin typeface="Arial Black"/>
                <a:ea typeface="Arial Black"/>
                <a:cs typeface="Arial Black"/>
              </a:rPr>
              <a:t>2026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83A1553-F704-46AB-8CAE-5787344471A8}"/>
              </a:ext>
            </a:extLst>
          </p:cNvPr>
          <p:cNvSpPr>
            <a:spLocks noGrp="1"/>
          </p:cNvSpPr>
          <p:nvPr/>
        </p:nvSpPr>
        <p:spPr>
          <a:xfrm>
            <a:off x="14077950" y="28536900"/>
            <a:ext cx="3105150" cy="11811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01" name="직사각형 200">
            <a:extLst>
              <a:ext uri="{FF2B5EF4-FFF2-40B4-BE49-F238E27FC236}">
                <a16:creationId xmlns:a16="http://schemas.microsoft.com/office/drawing/2014/main" id="{BC667CCD-61FA-4E70-A870-5002E2595FBD}"/>
              </a:ext>
            </a:extLst>
          </p:cNvPr>
          <p:cNvSpPr>
            <a:spLocks noGrp="1"/>
          </p:cNvSpPr>
          <p:nvPr/>
        </p:nvSpPr>
        <p:spPr>
          <a:xfrm>
            <a:off x="8429625" y="13439680"/>
            <a:ext cx="4524375" cy="58474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buNone/>
              <a:defRPr sz="21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00" b="1" dirty="0" err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핵심</a:t>
            </a:r>
            <a:r>
              <a:rPr sz="3200" b="1" dirty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3200" b="1" dirty="0" err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기술</a:t>
            </a:r>
            <a:r>
              <a:rPr sz="3200" b="1" dirty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3200" b="1" dirty="0" err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및</a:t>
            </a:r>
            <a:r>
              <a:rPr sz="3200" b="1" dirty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3200" b="1" dirty="0" err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구현</a:t>
            </a:r>
            <a:endParaRPr sz="3200" b="1" dirty="0">
              <a:solidFill>
                <a:srgbClr val="FFFFFF"/>
              </a:solidFill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202" name="직사각형 201">
            <a:extLst>
              <a:ext uri="{FF2B5EF4-FFF2-40B4-BE49-F238E27FC236}">
                <a16:creationId xmlns:a16="http://schemas.microsoft.com/office/drawing/2014/main" id="{0DB74F89-DF99-4DB3-B913-3E95CA5C95E8}"/>
              </a:ext>
            </a:extLst>
          </p:cNvPr>
          <p:cNvSpPr>
            <a:spLocks noGrp="1"/>
          </p:cNvSpPr>
          <p:nvPr/>
        </p:nvSpPr>
        <p:spPr>
          <a:xfrm>
            <a:off x="8429625" y="22774180"/>
            <a:ext cx="4524375" cy="58474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buNone/>
              <a:defRPr sz="21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00" b="1" dirty="0" err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실험</a:t>
            </a:r>
            <a:r>
              <a:rPr sz="3200" b="1" dirty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3200" b="1" dirty="0" err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결과</a:t>
            </a:r>
            <a:r>
              <a:rPr sz="3200" b="1" dirty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3200" b="1" dirty="0" err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및</a:t>
            </a:r>
            <a:r>
              <a:rPr sz="3200" b="1" dirty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3200" b="1" dirty="0" err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결론</a:t>
            </a:r>
            <a:endParaRPr sz="3200" b="1" dirty="0">
              <a:solidFill>
                <a:srgbClr val="FFFFFF"/>
              </a:solidFill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203" name="직사각형 202">
            <a:extLst>
              <a:ext uri="{FF2B5EF4-FFF2-40B4-BE49-F238E27FC236}">
                <a16:creationId xmlns:a16="http://schemas.microsoft.com/office/drawing/2014/main" id="{83B4FCE8-E588-436C-ADF6-610699E1A2E0}"/>
              </a:ext>
            </a:extLst>
          </p:cNvPr>
          <p:cNvSpPr>
            <a:spLocks noGrp="1"/>
          </p:cNvSpPr>
          <p:nvPr/>
        </p:nvSpPr>
        <p:spPr>
          <a:xfrm>
            <a:off x="952500" y="6334125"/>
            <a:ext cx="919162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2475" b="1">
                <a:solidFill>
                  <a:srgbClr val="17355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75" b="1">
                <a:solidFill>
                  <a:srgbClr val="17355C"/>
                </a:solidFill>
                <a:latin typeface="Arial Unicode MS"/>
                <a:ea typeface="Arial Unicode MS"/>
                <a:cs typeface="Arial Unicode MS"/>
              </a:rPr>
              <a:t>연구 배경과 목표</a:t>
            </a:r>
          </a:p>
        </p:txBody>
      </p:sp>
      <p:sp>
        <p:nvSpPr>
          <p:cNvPr id="204" name="직선 연결선[R] 203">
            <a:extLst>
              <a:ext uri="{FF2B5EF4-FFF2-40B4-BE49-F238E27FC236}">
                <a16:creationId xmlns:a16="http://schemas.microsoft.com/office/drawing/2014/main" id="{3F5DCC64-60D6-4D34-8F5E-10E38454F001}"/>
              </a:ext>
            </a:extLst>
          </p:cNvPr>
          <p:cNvSpPr>
            <a:spLocks noGrp="1"/>
          </p:cNvSpPr>
          <p:nvPr/>
        </p:nvSpPr>
        <p:spPr>
          <a:xfrm>
            <a:off x="952500" y="6848475"/>
            <a:ext cx="9191625" cy="0"/>
          </a:xfrm>
          <a:prstGeom prst="line">
            <a:avLst/>
          </a:prstGeom>
          <a:noFill/>
          <a:ln w="19050">
            <a:solidFill>
              <a:srgbClr val="D8E0E7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5" name="모서리가 둥근 직사각형 204">
            <a:extLst>
              <a:ext uri="{FF2B5EF4-FFF2-40B4-BE49-F238E27FC236}">
                <a16:creationId xmlns:a16="http://schemas.microsoft.com/office/drawing/2014/main" id="{D9C68317-C738-4E15-8ED5-886A3A66BF92}"/>
              </a:ext>
            </a:extLst>
          </p:cNvPr>
          <p:cNvSpPr>
            <a:spLocks noGrp="1"/>
          </p:cNvSpPr>
          <p:nvPr/>
        </p:nvSpPr>
        <p:spPr>
          <a:xfrm>
            <a:off x="1000125" y="7181850"/>
            <a:ext cx="2638425" cy="1200150"/>
          </a:xfrm>
          <a:prstGeom prst="roundRect">
            <a:avLst>
              <a:gd name="adj" fmla="val 7937"/>
            </a:avLst>
          </a:prstGeom>
          <a:solidFill>
            <a:srgbClr val="EAF2F8"/>
          </a:solidFill>
          <a:ln w="19050">
            <a:solidFill>
              <a:srgbClr val="2F5597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6" name="직사각형 205">
            <a:extLst>
              <a:ext uri="{FF2B5EF4-FFF2-40B4-BE49-F238E27FC236}">
                <a16:creationId xmlns:a16="http://schemas.microsoft.com/office/drawing/2014/main" id="{71DED66A-BDC4-4F4E-8174-782BF39A8875}"/>
              </a:ext>
            </a:extLst>
          </p:cNvPr>
          <p:cNvSpPr>
            <a:spLocks noGrp="1"/>
          </p:cNvSpPr>
          <p:nvPr/>
        </p:nvSpPr>
        <p:spPr>
          <a:xfrm>
            <a:off x="1114425" y="7343775"/>
            <a:ext cx="2409825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buNone/>
              <a:defRPr sz="2175" b="1">
                <a:solidFill>
                  <a:srgbClr val="17355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17355C"/>
                </a:solidFill>
                <a:latin typeface="Arial Unicode MS"/>
                <a:ea typeface="Arial Unicode MS"/>
                <a:cs typeface="Arial Unicode MS"/>
              </a:rPr>
              <a:t>AI 코드 확산</a:t>
            </a:r>
          </a:p>
        </p:txBody>
      </p:sp>
      <p:sp>
        <p:nvSpPr>
          <p:cNvPr id="207" name="직사각형 206">
            <a:extLst>
              <a:ext uri="{FF2B5EF4-FFF2-40B4-BE49-F238E27FC236}">
                <a16:creationId xmlns:a16="http://schemas.microsoft.com/office/drawing/2014/main" id="{F9E05279-856A-4DED-9CD6-7F692D02AABA}"/>
              </a:ext>
            </a:extLst>
          </p:cNvPr>
          <p:cNvSpPr>
            <a:spLocks noGrp="1"/>
          </p:cNvSpPr>
          <p:nvPr/>
        </p:nvSpPr>
        <p:spPr>
          <a:xfrm>
            <a:off x="1114425" y="7800975"/>
            <a:ext cx="2409825" cy="561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buNone/>
              <a:defRPr sz="1725" b="0">
                <a:solidFill>
                  <a:srgbClr val="5B657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5B6573"/>
                </a:solidFill>
                <a:latin typeface="Arial Unicode MS"/>
                <a:ea typeface="Arial Unicode MS"/>
                <a:cs typeface="Arial Unicode MS"/>
              </a:rPr>
              <a:t>보안 검증 부담 증가</a:t>
            </a:r>
          </a:p>
        </p:txBody>
      </p:sp>
      <p:sp>
        <p:nvSpPr>
          <p:cNvPr id="208" name="모서리가 둥근 직사각형 207">
            <a:extLst>
              <a:ext uri="{FF2B5EF4-FFF2-40B4-BE49-F238E27FC236}">
                <a16:creationId xmlns:a16="http://schemas.microsoft.com/office/drawing/2014/main" id="{8D7DC080-9832-449D-97EC-CEAA63A81BCA}"/>
              </a:ext>
            </a:extLst>
          </p:cNvPr>
          <p:cNvSpPr>
            <a:spLocks noGrp="1"/>
          </p:cNvSpPr>
          <p:nvPr/>
        </p:nvSpPr>
        <p:spPr>
          <a:xfrm>
            <a:off x="4238625" y="7181850"/>
            <a:ext cx="2638425" cy="1200150"/>
          </a:xfrm>
          <a:prstGeom prst="roundRect">
            <a:avLst>
              <a:gd name="adj" fmla="val 7937"/>
            </a:avLst>
          </a:prstGeom>
          <a:solidFill>
            <a:srgbClr val="EAF2F8"/>
          </a:solidFill>
          <a:ln w="19050">
            <a:solidFill>
              <a:srgbClr val="2F5597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9" name="직사각형 208">
            <a:extLst>
              <a:ext uri="{FF2B5EF4-FFF2-40B4-BE49-F238E27FC236}">
                <a16:creationId xmlns:a16="http://schemas.microsoft.com/office/drawing/2014/main" id="{F945CDBB-72BB-4B21-898A-960CF60D1FA8}"/>
              </a:ext>
            </a:extLst>
          </p:cNvPr>
          <p:cNvSpPr>
            <a:spLocks noGrp="1"/>
          </p:cNvSpPr>
          <p:nvPr/>
        </p:nvSpPr>
        <p:spPr>
          <a:xfrm>
            <a:off x="4352925" y="7343775"/>
            <a:ext cx="2409825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buNone/>
              <a:defRPr sz="2175" b="1">
                <a:solidFill>
                  <a:srgbClr val="17355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17355C"/>
                </a:solidFill>
                <a:latin typeface="Arial Unicode MS"/>
                <a:ea typeface="Arial Unicode MS"/>
                <a:cs typeface="Arial Unicode MS"/>
              </a:rPr>
              <a:t>기존 분석의 한계</a:t>
            </a:r>
          </a:p>
        </p:txBody>
      </p:sp>
      <p:sp>
        <p:nvSpPr>
          <p:cNvPr id="210" name="직사각형 209">
            <a:extLst>
              <a:ext uri="{FF2B5EF4-FFF2-40B4-BE49-F238E27FC236}">
                <a16:creationId xmlns:a16="http://schemas.microsoft.com/office/drawing/2014/main" id="{0AFE222A-B4BC-4E3C-9224-ED59CD402FE7}"/>
              </a:ext>
            </a:extLst>
          </p:cNvPr>
          <p:cNvSpPr>
            <a:spLocks noGrp="1"/>
          </p:cNvSpPr>
          <p:nvPr/>
        </p:nvSpPr>
        <p:spPr>
          <a:xfrm>
            <a:off x="4352925" y="7800975"/>
            <a:ext cx="2409825" cy="561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buNone/>
              <a:defRPr sz="1725" b="0">
                <a:solidFill>
                  <a:srgbClr val="5B657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5B6573"/>
                </a:solidFill>
                <a:latin typeface="Arial Unicode MS"/>
                <a:ea typeface="Arial Unicode MS"/>
                <a:cs typeface="Arial Unicode MS"/>
              </a:rPr>
              <a:t>규칙 누락 / 근거 부족</a:t>
            </a:r>
          </a:p>
        </p:txBody>
      </p:sp>
      <p:sp>
        <p:nvSpPr>
          <p:cNvPr id="211" name="모서리가 둥근 직사각형 210">
            <a:extLst>
              <a:ext uri="{FF2B5EF4-FFF2-40B4-BE49-F238E27FC236}">
                <a16:creationId xmlns:a16="http://schemas.microsoft.com/office/drawing/2014/main" id="{7E7EC37C-1890-4694-B201-A1CC48B1E718}"/>
              </a:ext>
            </a:extLst>
          </p:cNvPr>
          <p:cNvSpPr>
            <a:spLocks noGrp="1"/>
          </p:cNvSpPr>
          <p:nvPr/>
        </p:nvSpPr>
        <p:spPr>
          <a:xfrm>
            <a:off x="7477125" y="7181850"/>
            <a:ext cx="2638425" cy="1200150"/>
          </a:xfrm>
          <a:prstGeom prst="roundRect">
            <a:avLst>
              <a:gd name="adj" fmla="val 7937"/>
            </a:avLst>
          </a:prstGeom>
          <a:solidFill>
            <a:srgbClr val="E7F6F4"/>
          </a:solidFill>
          <a:ln w="19050">
            <a:solidFill>
              <a:srgbClr val="149E9A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2" name="직사각형 211">
            <a:extLst>
              <a:ext uri="{FF2B5EF4-FFF2-40B4-BE49-F238E27FC236}">
                <a16:creationId xmlns:a16="http://schemas.microsoft.com/office/drawing/2014/main" id="{8A9DCBAC-2482-42B8-ADC8-07373E683189}"/>
              </a:ext>
            </a:extLst>
          </p:cNvPr>
          <p:cNvSpPr>
            <a:spLocks noGrp="1"/>
          </p:cNvSpPr>
          <p:nvPr/>
        </p:nvSpPr>
        <p:spPr>
          <a:xfrm>
            <a:off x="7591425" y="7343775"/>
            <a:ext cx="2409825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buNone/>
              <a:defRPr sz="2175" b="1">
                <a:solidFill>
                  <a:srgbClr val="17355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17355C"/>
                </a:solidFill>
                <a:latin typeface="Arial Unicode MS"/>
                <a:ea typeface="Arial Unicode MS"/>
                <a:cs typeface="Arial Unicode MS"/>
              </a:rPr>
              <a:t>ScanOps</a:t>
            </a:r>
          </a:p>
        </p:txBody>
      </p:sp>
      <p:sp>
        <p:nvSpPr>
          <p:cNvPr id="213" name="직사각형 212">
            <a:extLst>
              <a:ext uri="{FF2B5EF4-FFF2-40B4-BE49-F238E27FC236}">
                <a16:creationId xmlns:a16="http://schemas.microsoft.com/office/drawing/2014/main" id="{1EF02E0E-8428-40DA-B878-1141FA83B23E}"/>
              </a:ext>
            </a:extLst>
          </p:cNvPr>
          <p:cNvSpPr>
            <a:spLocks noGrp="1"/>
          </p:cNvSpPr>
          <p:nvPr/>
        </p:nvSpPr>
        <p:spPr>
          <a:xfrm>
            <a:off x="7591425" y="7800975"/>
            <a:ext cx="2409825" cy="561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buNone/>
              <a:defRPr sz="1725" b="0">
                <a:solidFill>
                  <a:srgbClr val="5B657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5B6573"/>
                </a:solidFill>
                <a:latin typeface="Arial Unicode MS"/>
                <a:ea typeface="Arial Unicode MS"/>
                <a:cs typeface="Arial Unicode MS"/>
              </a:rPr>
              <a:t>구조 + 의미 분석</a:t>
            </a:r>
          </a:p>
        </p:txBody>
      </p:sp>
      <p:cxnSp>
        <p:nvCxnSpPr>
          <p:cNvPr id="303" name="직선 화살표 연결선 302"/>
          <p:cNvCxnSpPr>
            <a:cxnSpLocks/>
            <a:stCxn id="205" idx="3"/>
            <a:endCxn id="208" idx="1"/>
          </p:cNvCxnSpPr>
          <p:nvPr/>
        </p:nvCxnSpPr>
        <p:spPr>
          <a:xfrm>
            <a:off x="3638550" y="7781925"/>
            <a:ext cx="600075" cy="0"/>
          </a:xfrm>
          <a:prstGeom prst="straightConnector1">
            <a:avLst/>
          </a:prstGeom>
          <a:ln w="28575">
            <a:solidFill>
              <a:srgbClr val="2F5597"/>
            </a:solidFill>
            <a:tailEnd type="triangle" w="sm" len="sm"/>
          </a:ln>
        </p:spPr>
      </p:cxnSp>
      <p:cxnSp>
        <p:nvCxnSpPr>
          <p:cNvPr id="304" name="직선 화살표 연결선 303"/>
          <p:cNvCxnSpPr>
            <a:cxnSpLocks/>
            <a:stCxn id="208" idx="3"/>
            <a:endCxn id="211" idx="1"/>
          </p:cNvCxnSpPr>
          <p:nvPr/>
        </p:nvCxnSpPr>
        <p:spPr>
          <a:xfrm>
            <a:off x="6877050" y="7781925"/>
            <a:ext cx="600075" cy="0"/>
          </a:xfrm>
          <a:prstGeom prst="straightConnector1">
            <a:avLst/>
          </a:prstGeom>
          <a:ln w="28575">
            <a:solidFill>
              <a:srgbClr val="2F5597"/>
            </a:solidFill>
            <a:tailEnd type="triangle" w="sm" len="sm"/>
          </a:ln>
        </p:spPr>
      </p:cxnSp>
      <p:sp>
        <p:nvSpPr>
          <p:cNvPr id="216" name="직사각형 215">
            <a:extLst>
              <a:ext uri="{FF2B5EF4-FFF2-40B4-BE49-F238E27FC236}">
                <a16:creationId xmlns:a16="http://schemas.microsoft.com/office/drawing/2014/main" id="{0A984A89-C383-457A-BAFC-796E8664B65B}"/>
              </a:ext>
            </a:extLst>
          </p:cNvPr>
          <p:cNvSpPr>
            <a:spLocks noGrp="1"/>
          </p:cNvSpPr>
          <p:nvPr/>
        </p:nvSpPr>
        <p:spPr>
          <a:xfrm>
            <a:off x="1000125" y="8696325"/>
            <a:ext cx="904875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2025" b="0">
                <a:solidFill>
                  <a:srgbClr val="18212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8212D"/>
                </a:solidFill>
                <a:latin typeface="Arial Unicode MS"/>
                <a:ea typeface="Arial Unicode MS"/>
                <a:cs typeface="Arial Unicode MS"/>
              </a:rPr>
              <a:t>Joern CPG는 취약 경로를 계산하고, Qwen은 외부 API 역할과</a:t>
            </a:r>
          </a:p>
          <a:p>
            <a:pPr algn="l">
              <a:lnSpc>
                <a:spcPct val="115000"/>
              </a:lnSpc>
              <a:buNone/>
              <a:defRPr sz="2025" b="0">
                <a:solidFill>
                  <a:srgbClr val="18212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8212D"/>
                </a:solidFill>
                <a:latin typeface="Arial Unicode MS"/>
                <a:ea typeface="Arial Unicode MS"/>
                <a:cs typeface="Arial Unicode MS"/>
              </a:rPr>
              <a:t>코드의 의미를 보완한다. 검증 gate가 수용 범위를 제한한다.</a:t>
            </a:r>
          </a:p>
        </p:txBody>
      </p:sp>
      <p:sp>
        <p:nvSpPr>
          <p:cNvPr id="217" name="직사각형 216">
            <a:extLst>
              <a:ext uri="{FF2B5EF4-FFF2-40B4-BE49-F238E27FC236}">
                <a16:creationId xmlns:a16="http://schemas.microsoft.com/office/drawing/2014/main" id="{1463BAF2-12EC-4003-9CE6-9334FF721DAD}"/>
              </a:ext>
            </a:extLst>
          </p:cNvPr>
          <p:cNvSpPr>
            <a:spLocks noGrp="1"/>
          </p:cNvSpPr>
          <p:nvPr/>
        </p:nvSpPr>
        <p:spPr>
          <a:xfrm>
            <a:off x="952500" y="9810750"/>
            <a:ext cx="919162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2475" b="1">
                <a:solidFill>
                  <a:srgbClr val="17355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75" b="1">
                <a:solidFill>
                  <a:srgbClr val="17355C"/>
                </a:solidFill>
                <a:latin typeface="Arial Unicode MS"/>
                <a:ea typeface="Arial Unicode MS"/>
                <a:cs typeface="Arial Unicode MS"/>
              </a:rPr>
              <a:t>동일 조건의 벤치마크 평가</a:t>
            </a:r>
          </a:p>
        </p:txBody>
      </p:sp>
      <p:sp>
        <p:nvSpPr>
          <p:cNvPr id="218" name="직선 연결선[R] 217">
            <a:extLst>
              <a:ext uri="{FF2B5EF4-FFF2-40B4-BE49-F238E27FC236}">
                <a16:creationId xmlns:a16="http://schemas.microsoft.com/office/drawing/2014/main" id="{3E02E2D2-3BAF-4983-9C7B-6E98BD94507D}"/>
              </a:ext>
            </a:extLst>
          </p:cNvPr>
          <p:cNvSpPr>
            <a:spLocks noGrp="1"/>
          </p:cNvSpPr>
          <p:nvPr/>
        </p:nvSpPr>
        <p:spPr>
          <a:xfrm>
            <a:off x="952500" y="10325100"/>
            <a:ext cx="9191625" cy="0"/>
          </a:xfrm>
          <a:prstGeom prst="line">
            <a:avLst/>
          </a:prstGeom>
          <a:noFill/>
          <a:ln w="19050">
            <a:solidFill>
              <a:srgbClr val="D8E0E7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9" name="직사각형 218">
            <a:extLst>
              <a:ext uri="{FF2B5EF4-FFF2-40B4-BE49-F238E27FC236}">
                <a16:creationId xmlns:a16="http://schemas.microsoft.com/office/drawing/2014/main" id="{75207291-FD5A-4E10-85A2-B70381AD7265}"/>
              </a:ext>
            </a:extLst>
          </p:cNvPr>
          <p:cNvSpPr>
            <a:spLocks noGrp="1"/>
          </p:cNvSpPr>
          <p:nvPr/>
        </p:nvSpPr>
        <p:spPr>
          <a:xfrm>
            <a:off x="1000125" y="10515600"/>
            <a:ext cx="2809875" cy="600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buNone/>
              <a:defRPr sz="3600" b="1">
                <a:solidFill>
                  <a:srgbClr val="2F559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600" b="1">
                <a:solidFill>
                  <a:srgbClr val="2F5597"/>
                </a:solidFill>
                <a:latin typeface="Arial Unicode MS"/>
                <a:ea typeface="Arial Unicode MS"/>
                <a:cs typeface="Arial Unicode MS"/>
              </a:rPr>
              <a:t>38</a:t>
            </a:r>
          </a:p>
        </p:txBody>
      </p:sp>
      <p:sp>
        <p:nvSpPr>
          <p:cNvPr id="220" name="직사각형 219">
            <a:extLst>
              <a:ext uri="{FF2B5EF4-FFF2-40B4-BE49-F238E27FC236}">
                <a16:creationId xmlns:a16="http://schemas.microsoft.com/office/drawing/2014/main" id="{AF1B5EAB-7682-4EC1-A3F1-1EBA2E7D69ED}"/>
              </a:ext>
            </a:extLst>
          </p:cNvPr>
          <p:cNvSpPr>
            <a:spLocks noGrp="1"/>
          </p:cNvSpPr>
          <p:nvPr/>
        </p:nvSpPr>
        <p:spPr>
          <a:xfrm>
            <a:off x="1000125" y="11172825"/>
            <a:ext cx="2809875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buNone/>
              <a:defRPr sz="1950" b="0">
                <a:solidFill>
                  <a:srgbClr val="5B657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5B6573"/>
                </a:solidFill>
                <a:latin typeface="Arial Unicode MS"/>
                <a:ea typeface="Arial Unicode MS"/>
                <a:cs typeface="Arial Unicode MS"/>
              </a:rPr>
              <a:t>Java CWE</a:t>
            </a:r>
          </a:p>
        </p:txBody>
      </p:sp>
      <p:sp>
        <p:nvSpPr>
          <p:cNvPr id="221" name="직사각형 220">
            <a:extLst>
              <a:ext uri="{FF2B5EF4-FFF2-40B4-BE49-F238E27FC236}">
                <a16:creationId xmlns:a16="http://schemas.microsoft.com/office/drawing/2014/main" id="{D53796D0-D7D8-422F-B75B-0367405D389B}"/>
              </a:ext>
            </a:extLst>
          </p:cNvPr>
          <p:cNvSpPr>
            <a:spLocks noGrp="1"/>
          </p:cNvSpPr>
          <p:nvPr/>
        </p:nvSpPr>
        <p:spPr>
          <a:xfrm>
            <a:off x="4067175" y="10515600"/>
            <a:ext cx="2809875" cy="600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buNone/>
              <a:defRPr sz="3600" b="1">
                <a:solidFill>
                  <a:srgbClr val="149E9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600" b="1">
                <a:solidFill>
                  <a:srgbClr val="149E9A"/>
                </a:solidFill>
                <a:latin typeface="Arial Unicode MS"/>
                <a:ea typeface="Arial Unicode MS"/>
                <a:cs typeface="Arial Unicode MS"/>
              </a:rPr>
              <a:t>534</a:t>
            </a:r>
          </a:p>
        </p:txBody>
      </p:sp>
      <p:sp>
        <p:nvSpPr>
          <p:cNvPr id="222" name="직사각형 221">
            <a:extLst>
              <a:ext uri="{FF2B5EF4-FFF2-40B4-BE49-F238E27FC236}">
                <a16:creationId xmlns:a16="http://schemas.microsoft.com/office/drawing/2014/main" id="{3F35AD08-ADB7-420F-81C4-6E92E9C18B54}"/>
              </a:ext>
            </a:extLst>
          </p:cNvPr>
          <p:cNvSpPr>
            <a:spLocks noGrp="1"/>
          </p:cNvSpPr>
          <p:nvPr/>
        </p:nvSpPr>
        <p:spPr>
          <a:xfrm>
            <a:off x="4067175" y="11172825"/>
            <a:ext cx="2809875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buNone/>
              <a:defRPr sz="1950" b="0">
                <a:solidFill>
                  <a:srgbClr val="5B657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5B6573"/>
                </a:solidFill>
                <a:latin typeface="Arial Unicode MS"/>
                <a:ea typeface="Arial Unicode MS"/>
                <a:cs typeface="Arial Unicode MS"/>
              </a:rPr>
              <a:t>취약·안전 쌍</a:t>
            </a:r>
          </a:p>
        </p:txBody>
      </p:sp>
      <p:sp>
        <p:nvSpPr>
          <p:cNvPr id="223" name="직사각형 222">
            <a:extLst>
              <a:ext uri="{FF2B5EF4-FFF2-40B4-BE49-F238E27FC236}">
                <a16:creationId xmlns:a16="http://schemas.microsoft.com/office/drawing/2014/main" id="{33EE4B7A-6759-465D-B0DA-01882819D9D7}"/>
              </a:ext>
            </a:extLst>
          </p:cNvPr>
          <p:cNvSpPr>
            <a:spLocks noGrp="1"/>
          </p:cNvSpPr>
          <p:nvPr/>
        </p:nvSpPr>
        <p:spPr>
          <a:xfrm>
            <a:off x="7134225" y="10515600"/>
            <a:ext cx="2809875" cy="600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buNone/>
              <a:defRPr sz="3600" b="1">
                <a:solidFill>
                  <a:srgbClr val="2F559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600" b="1">
                <a:solidFill>
                  <a:srgbClr val="2F5597"/>
                </a:solidFill>
                <a:latin typeface="Arial Unicode MS"/>
                <a:ea typeface="Arial Unicode MS"/>
                <a:cs typeface="Arial Unicode MS"/>
              </a:rPr>
              <a:t>1,068</a:t>
            </a:r>
          </a:p>
        </p:txBody>
      </p:sp>
      <p:sp>
        <p:nvSpPr>
          <p:cNvPr id="224" name="직사각형 223">
            <a:extLst>
              <a:ext uri="{FF2B5EF4-FFF2-40B4-BE49-F238E27FC236}">
                <a16:creationId xmlns:a16="http://schemas.microsoft.com/office/drawing/2014/main" id="{CC4B166E-1099-48F5-93A6-427182C76814}"/>
              </a:ext>
            </a:extLst>
          </p:cNvPr>
          <p:cNvSpPr>
            <a:spLocks noGrp="1"/>
          </p:cNvSpPr>
          <p:nvPr/>
        </p:nvSpPr>
        <p:spPr>
          <a:xfrm>
            <a:off x="7134225" y="11172825"/>
            <a:ext cx="2809875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buNone/>
              <a:defRPr sz="1950" b="0">
                <a:solidFill>
                  <a:srgbClr val="5B657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5B6573"/>
                </a:solidFill>
                <a:latin typeface="Arial Unicode MS"/>
                <a:ea typeface="Arial Unicode MS"/>
                <a:cs typeface="Arial Unicode MS"/>
              </a:rPr>
              <a:t>개별 판정</a:t>
            </a:r>
          </a:p>
        </p:txBody>
      </p:sp>
      <p:sp>
        <p:nvSpPr>
          <p:cNvPr id="225" name="직사각형 224">
            <a:extLst>
              <a:ext uri="{FF2B5EF4-FFF2-40B4-BE49-F238E27FC236}">
                <a16:creationId xmlns:a16="http://schemas.microsoft.com/office/drawing/2014/main" id="{4D98C6A1-D3F4-42C5-812C-F80B2F7FC4E2}"/>
              </a:ext>
            </a:extLst>
          </p:cNvPr>
          <p:cNvSpPr>
            <a:spLocks noGrp="1"/>
          </p:cNvSpPr>
          <p:nvPr/>
        </p:nvSpPr>
        <p:spPr>
          <a:xfrm>
            <a:off x="1000125" y="11839575"/>
            <a:ext cx="90487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1875" b="0">
                <a:solidFill>
                  <a:srgbClr val="5B657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5B6573"/>
                </a:solidFill>
                <a:latin typeface="Arial Unicode MS"/>
                <a:ea typeface="Arial Unicode MS"/>
                <a:cs typeface="Arial Unicode MS"/>
              </a:rPr>
              <a:t>NIST Juliet Java 1.3  /  중복 제거와 개발·평가 분리</a:t>
            </a:r>
          </a:p>
          <a:p>
            <a:pPr algn="l">
              <a:lnSpc>
                <a:spcPct val="115000"/>
              </a:lnSpc>
              <a:buNone/>
              <a:defRPr sz="1875" b="0">
                <a:solidFill>
                  <a:srgbClr val="5B657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5B6573"/>
                </a:solidFill>
                <a:latin typeface="Arial Unicode MS"/>
                <a:ea typeface="Arial Unicode MS"/>
                <a:cs typeface="Arial Unicode MS"/>
              </a:rPr>
              <a:t>고정 CPG, CPG+Qwen 규칙, Qwen source-only, CodeQL 비교</a:t>
            </a:r>
          </a:p>
        </p:txBody>
      </p:sp>
      <p:sp>
        <p:nvSpPr>
          <p:cNvPr id="226" name="직사각형 225">
            <a:extLst>
              <a:ext uri="{FF2B5EF4-FFF2-40B4-BE49-F238E27FC236}">
                <a16:creationId xmlns:a16="http://schemas.microsoft.com/office/drawing/2014/main" id="{E2A902CA-B90B-455F-90E8-676BDBED68D4}"/>
              </a:ext>
            </a:extLst>
          </p:cNvPr>
          <p:cNvSpPr>
            <a:spLocks noGrp="1"/>
          </p:cNvSpPr>
          <p:nvPr/>
        </p:nvSpPr>
        <p:spPr>
          <a:xfrm>
            <a:off x="10953750" y="6334125"/>
            <a:ext cx="947737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2475" b="1">
                <a:solidFill>
                  <a:srgbClr val="17355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75" b="1">
                <a:solidFill>
                  <a:srgbClr val="17355C"/>
                </a:solidFill>
                <a:latin typeface="Arial Unicode MS"/>
                <a:ea typeface="Arial Unicode MS"/>
                <a:cs typeface="Arial Unicode MS"/>
              </a:rPr>
              <a:t>서비스 대시보드</a:t>
            </a:r>
          </a:p>
        </p:txBody>
      </p:sp>
      <p:sp>
        <p:nvSpPr>
          <p:cNvPr id="227" name="직선 연결선[R] 226">
            <a:extLst>
              <a:ext uri="{FF2B5EF4-FFF2-40B4-BE49-F238E27FC236}">
                <a16:creationId xmlns:a16="http://schemas.microsoft.com/office/drawing/2014/main" id="{56D54035-0EB5-426D-BFD5-527B84CF7301}"/>
              </a:ext>
            </a:extLst>
          </p:cNvPr>
          <p:cNvSpPr>
            <a:spLocks noGrp="1"/>
          </p:cNvSpPr>
          <p:nvPr/>
        </p:nvSpPr>
        <p:spPr>
          <a:xfrm>
            <a:off x="10953750" y="6848475"/>
            <a:ext cx="9477375" cy="0"/>
          </a:xfrm>
          <a:prstGeom prst="line">
            <a:avLst/>
          </a:prstGeom>
          <a:noFill/>
          <a:ln w="19050">
            <a:solidFill>
              <a:srgbClr val="D8E0E7"/>
            </a:solidFill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17" name="그림 316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10953750" y="7077297"/>
            <a:ext cx="9477375" cy="5574539"/>
          </a:xfrm>
          <a:prstGeom prst="rect">
            <a:avLst/>
          </a:prstGeom>
        </p:spPr>
      </p:pic>
      <p:sp>
        <p:nvSpPr>
          <p:cNvPr id="229" name="직사각형 228">
            <a:extLst>
              <a:ext uri="{FF2B5EF4-FFF2-40B4-BE49-F238E27FC236}">
                <a16:creationId xmlns:a16="http://schemas.microsoft.com/office/drawing/2014/main" id="{BF30CB17-22D0-4811-9AA4-BCFA4F65F140}"/>
              </a:ext>
            </a:extLst>
          </p:cNvPr>
          <p:cNvSpPr>
            <a:spLocks noGrp="1"/>
          </p:cNvSpPr>
          <p:nvPr/>
        </p:nvSpPr>
        <p:spPr>
          <a:xfrm>
            <a:off x="11001375" y="12763500"/>
            <a:ext cx="94297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1650" b="0">
                <a:solidFill>
                  <a:srgbClr val="5B657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5B6573"/>
                </a:solidFill>
                <a:latin typeface="Arial Unicode MS"/>
                <a:ea typeface="Arial Unicode MS"/>
                <a:cs typeface="Arial Unicode MS"/>
              </a:rPr>
              <a:t>Figma 설계 화면 · 화면 속 예시 수치는 연구 성능 지표와 별개</a:t>
            </a:r>
          </a:p>
        </p:txBody>
      </p:sp>
      <p:sp>
        <p:nvSpPr>
          <p:cNvPr id="230" name="직사각형 229">
            <a:extLst>
              <a:ext uri="{FF2B5EF4-FFF2-40B4-BE49-F238E27FC236}">
                <a16:creationId xmlns:a16="http://schemas.microsoft.com/office/drawing/2014/main" id="{91050DEF-8553-441D-8890-2FB19B93EC63}"/>
              </a:ext>
            </a:extLst>
          </p:cNvPr>
          <p:cNvSpPr>
            <a:spLocks noGrp="1"/>
          </p:cNvSpPr>
          <p:nvPr/>
        </p:nvSpPr>
        <p:spPr>
          <a:xfrm>
            <a:off x="952500" y="14478000"/>
            <a:ext cx="947737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2475" b="1">
                <a:solidFill>
                  <a:srgbClr val="17355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75" b="1">
                <a:solidFill>
                  <a:srgbClr val="17355C"/>
                </a:solidFill>
                <a:latin typeface="Arial Unicode MS"/>
                <a:ea typeface="Arial Unicode MS"/>
                <a:cs typeface="Arial Unicode MS"/>
              </a:rPr>
              <a:t>전체 서비스 아키텍처</a:t>
            </a:r>
          </a:p>
        </p:txBody>
      </p:sp>
      <p:sp>
        <p:nvSpPr>
          <p:cNvPr id="231" name="직선 연결선[R] 230">
            <a:extLst>
              <a:ext uri="{FF2B5EF4-FFF2-40B4-BE49-F238E27FC236}">
                <a16:creationId xmlns:a16="http://schemas.microsoft.com/office/drawing/2014/main" id="{E95193A7-D661-4292-B530-348945528F47}"/>
              </a:ext>
            </a:extLst>
          </p:cNvPr>
          <p:cNvSpPr>
            <a:spLocks noGrp="1"/>
          </p:cNvSpPr>
          <p:nvPr/>
        </p:nvSpPr>
        <p:spPr>
          <a:xfrm>
            <a:off x="952500" y="14992350"/>
            <a:ext cx="9477375" cy="0"/>
          </a:xfrm>
          <a:prstGeom prst="line">
            <a:avLst/>
          </a:prstGeom>
          <a:noFill/>
          <a:ln w="19050">
            <a:solidFill>
              <a:srgbClr val="D8E0E7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2" name="직사각형 231">
            <a:extLst>
              <a:ext uri="{FF2B5EF4-FFF2-40B4-BE49-F238E27FC236}">
                <a16:creationId xmlns:a16="http://schemas.microsoft.com/office/drawing/2014/main" id="{2217C33D-0F15-40C3-B66F-39BE9794AE9D}"/>
              </a:ext>
            </a:extLst>
          </p:cNvPr>
          <p:cNvSpPr>
            <a:spLocks noGrp="1"/>
          </p:cNvSpPr>
          <p:nvPr/>
        </p:nvSpPr>
        <p:spPr>
          <a:xfrm>
            <a:off x="10953750" y="14478000"/>
            <a:ext cx="947737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2475" b="1">
                <a:solidFill>
                  <a:srgbClr val="17355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75" b="1">
                <a:solidFill>
                  <a:srgbClr val="17355C"/>
                </a:solidFill>
                <a:latin typeface="Arial Unicode MS"/>
                <a:ea typeface="Arial Unicode MS"/>
                <a:cs typeface="Arial Unicode MS"/>
              </a:rPr>
              <a:t>Java CPG+LLM 탐지 모델</a:t>
            </a:r>
          </a:p>
        </p:txBody>
      </p:sp>
      <p:sp>
        <p:nvSpPr>
          <p:cNvPr id="233" name="직선 연결선[R] 232">
            <a:extLst>
              <a:ext uri="{FF2B5EF4-FFF2-40B4-BE49-F238E27FC236}">
                <a16:creationId xmlns:a16="http://schemas.microsoft.com/office/drawing/2014/main" id="{D09D2130-12CC-494A-A8E8-E4780A7CEAE4}"/>
              </a:ext>
            </a:extLst>
          </p:cNvPr>
          <p:cNvSpPr>
            <a:spLocks noGrp="1"/>
          </p:cNvSpPr>
          <p:nvPr/>
        </p:nvSpPr>
        <p:spPr>
          <a:xfrm>
            <a:off x="10953750" y="14992350"/>
            <a:ext cx="9477375" cy="0"/>
          </a:xfrm>
          <a:prstGeom prst="line">
            <a:avLst/>
          </a:prstGeom>
          <a:noFill/>
          <a:ln w="19050">
            <a:solidFill>
              <a:srgbClr val="D8E0E7"/>
            </a:solidFill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23" name="그림 322"/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952500" y="15155516"/>
            <a:ext cx="9477375" cy="4591425"/>
          </a:xfrm>
          <a:prstGeom prst="rect">
            <a:avLst/>
          </a:prstGeom>
        </p:spPr>
      </p:pic>
      <p:pic>
        <p:nvPicPr>
          <p:cNvPr id="324" name="그림 323"/>
          <p:cNvPicPr>
            <a:picLocks noChangeAspect="1"/>
          </p:cNvPicPr>
          <p:nvPr/>
        </p:nvPicPr>
        <p:blipFill>
          <a:blip r:embed="rId9"/>
          <a:stretch/>
        </p:blipFill>
        <p:spPr>
          <a:xfrm>
            <a:off x="10953841" y="15154275"/>
            <a:ext cx="9477194" cy="4934903"/>
          </a:xfrm>
          <a:prstGeom prst="rect">
            <a:avLst/>
          </a:prstGeom>
        </p:spPr>
      </p:pic>
      <p:sp>
        <p:nvSpPr>
          <p:cNvPr id="236" name="직사각형 235">
            <a:extLst>
              <a:ext uri="{FF2B5EF4-FFF2-40B4-BE49-F238E27FC236}">
                <a16:creationId xmlns:a16="http://schemas.microsoft.com/office/drawing/2014/main" id="{B8A84E93-C4F2-4F8D-9556-254BC4C956E9}"/>
              </a:ext>
            </a:extLst>
          </p:cNvPr>
          <p:cNvSpPr>
            <a:spLocks noGrp="1"/>
          </p:cNvSpPr>
          <p:nvPr/>
        </p:nvSpPr>
        <p:spPr>
          <a:xfrm>
            <a:off x="1000125" y="19954875"/>
            <a:ext cx="9334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1875" b="0">
                <a:solidFill>
                  <a:srgbClr val="5B657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5B6573"/>
                </a:solidFill>
                <a:latin typeface="Arial Unicode MS"/>
                <a:ea typeface="Arial Unicode MS"/>
                <a:cs typeface="Arial Unicode MS"/>
              </a:rPr>
              <a:t>Java 요청은 별도 분석 EC2로 분리한다.</a:t>
            </a:r>
          </a:p>
          <a:p>
            <a:pPr algn="l">
              <a:lnSpc>
                <a:spcPct val="115000"/>
              </a:lnSpc>
              <a:buNone/>
              <a:defRPr sz="1875" b="0">
                <a:solidFill>
                  <a:srgbClr val="5B657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5B6573"/>
                </a:solidFill>
                <a:latin typeface="Arial Unicode MS"/>
                <a:ea typeface="Arial Unicode MS"/>
                <a:cs typeface="Arial Unicode MS"/>
              </a:rPr>
              <a:t>FastAPI와 Joern worker가 분석하고 백엔드·DB로 결과를 전달한다.</a:t>
            </a:r>
          </a:p>
        </p:txBody>
      </p:sp>
      <p:sp>
        <p:nvSpPr>
          <p:cNvPr id="237" name="직사각형 236">
            <a:extLst>
              <a:ext uri="{FF2B5EF4-FFF2-40B4-BE49-F238E27FC236}">
                <a16:creationId xmlns:a16="http://schemas.microsoft.com/office/drawing/2014/main" id="{6B4FB109-60F7-47F7-A537-50010BA59F3C}"/>
              </a:ext>
            </a:extLst>
          </p:cNvPr>
          <p:cNvSpPr>
            <a:spLocks noGrp="1"/>
          </p:cNvSpPr>
          <p:nvPr/>
        </p:nvSpPr>
        <p:spPr>
          <a:xfrm>
            <a:off x="11001375" y="20212050"/>
            <a:ext cx="93345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1875" b="0">
                <a:solidFill>
                  <a:srgbClr val="5B657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5B6573"/>
                </a:solidFill>
                <a:latin typeface="Arial Unicode MS"/>
                <a:ea typeface="Arial Unicode MS"/>
                <a:cs typeface="Arial Unicode MS"/>
              </a:rPr>
              <a:t>API 역할 제안은 결정적 gate로 검증한다.</a:t>
            </a:r>
          </a:p>
          <a:p>
            <a:pPr algn="l">
              <a:lnSpc>
                <a:spcPct val="115000"/>
              </a:lnSpc>
              <a:buNone/>
              <a:defRPr sz="1875" b="0">
                <a:solidFill>
                  <a:srgbClr val="5B657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5B6573"/>
                </a:solidFill>
                <a:latin typeface="Arial Unicode MS"/>
                <a:ea typeface="Arial Unicode MS"/>
                <a:cs typeface="Arial Unicode MS"/>
              </a:rPr>
              <a:t>동적 API 규칙은 운영에서 shadow이며 점선은 목표 구조이다.</a:t>
            </a:r>
          </a:p>
        </p:txBody>
      </p:sp>
      <p:sp>
        <p:nvSpPr>
          <p:cNvPr id="238" name="모서리가 둥근 직사각형 237">
            <a:extLst>
              <a:ext uri="{FF2B5EF4-FFF2-40B4-BE49-F238E27FC236}">
                <a16:creationId xmlns:a16="http://schemas.microsoft.com/office/drawing/2014/main" id="{B1D91816-3773-40CB-A3CE-A5031B656059}"/>
              </a:ext>
            </a:extLst>
          </p:cNvPr>
          <p:cNvSpPr>
            <a:spLocks noGrp="1"/>
          </p:cNvSpPr>
          <p:nvPr/>
        </p:nvSpPr>
        <p:spPr>
          <a:xfrm>
            <a:off x="1000125" y="21145500"/>
            <a:ext cx="4333875" cy="1104900"/>
          </a:xfrm>
          <a:prstGeom prst="roundRect">
            <a:avLst>
              <a:gd name="adj" fmla="val 8621"/>
            </a:avLst>
          </a:prstGeom>
          <a:solidFill>
            <a:srgbClr val="EAF2F8"/>
          </a:solidFill>
          <a:ln w="19050">
            <a:solidFill>
              <a:srgbClr val="2F5597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9" name="직사각형 238">
            <a:extLst>
              <a:ext uri="{FF2B5EF4-FFF2-40B4-BE49-F238E27FC236}">
                <a16:creationId xmlns:a16="http://schemas.microsoft.com/office/drawing/2014/main" id="{DB609726-332E-48F1-A512-1996A62897C1}"/>
              </a:ext>
            </a:extLst>
          </p:cNvPr>
          <p:cNvSpPr>
            <a:spLocks noGrp="1"/>
          </p:cNvSpPr>
          <p:nvPr/>
        </p:nvSpPr>
        <p:spPr>
          <a:xfrm>
            <a:off x="1114425" y="21307425"/>
            <a:ext cx="4105275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buNone/>
              <a:defRPr sz="2175" b="1">
                <a:solidFill>
                  <a:srgbClr val="17355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17355C"/>
                </a:solidFill>
                <a:latin typeface="Arial Unicode MS"/>
                <a:ea typeface="Arial Unicode MS"/>
                <a:cs typeface="Arial Unicode MS"/>
              </a:rPr>
              <a:t>후보 제한</a:t>
            </a:r>
          </a:p>
        </p:txBody>
      </p:sp>
      <p:sp>
        <p:nvSpPr>
          <p:cNvPr id="240" name="직사각형 239">
            <a:extLst>
              <a:ext uri="{FF2B5EF4-FFF2-40B4-BE49-F238E27FC236}">
                <a16:creationId xmlns:a16="http://schemas.microsoft.com/office/drawing/2014/main" id="{DD2FFB53-C87D-4D4A-8A5D-B34A1BF875F6}"/>
              </a:ext>
            </a:extLst>
          </p:cNvPr>
          <p:cNvSpPr>
            <a:spLocks noGrp="1"/>
          </p:cNvSpPr>
          <p:nvPr/>
        </p:nvSpPr>
        <p:spPr>
          <a:xfrm>
            <a:off x="1114425" y="21764625"/>
            <a:ext cx="4105275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buNone/>
              <a:defRPr sz="1725" b="0">
                <a:solidFill>
                  <a:srgbClr val="5B657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5B6573"/>
                </a:solidFill>
                <a:latin typeface="Arial Unicode MS"/>
                <a:ea typeface="Arial Unicode MS"/>
                <a:cs typeface="Arial Unicode MS"/>
              </a:rPr>
              <a:t>resolved API</a:t>
            </a:r>
          </a:p>
        </p:txBody>
      </p:sp>
      <p:sp>
        <p:nvSpPr>
          <p:cNvPr id="241" name="모서리가 둥근 직사각형 240">
            <a:extLst>
              <a:ext uri="{FF2B5EF4-FFF2-40B4-BE49-F238E27FC236}">
                <a16:creationId xmlns:a16="http://schemas.microsoft.com/office/drawing/2014/main" id="{230F4CFB-C50D-4946-B97F-801CA67565B9}"/>
              </a:ext>
            </a:extLst>
          </p:cNvPr>
          <p:cNvSpPr>
            <a:spLocks noGrp="1"/>
          </p:cNvSpPr>
          <p:nvPr/>
        </p:nvSpPr>
        <p:spPr>
          <a:xfrm>
            <a:off x="5953125" y="21145500"/>
            <a:ext cx="4333875" cy="1104900"/>
          </a:xfrm>
          <a:prstGeom prst="roundRect">
            <a:avLst>
              <a:gd name="adj" fmla="val 8621"/>
            </a:avLst>
          </a:prstGeom>
          <a:solidFill>
            <a:srgbClr val="EAF2F8"/>
          </a:solidFill>
          <a:ln w="19050">
            <a:solidFill>
              <a:srgbClr val="2F5597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2" name="직사각형 241">
            <a:extLst>
              <a:ext uri="{FF2B5EF4-FFF2-40B4-BE49-F238E27FC236}">
                <a16:creationId xmlns:a16="http://schemas.microsoft.com/office/drawing/2014/main" id="{880F51F4-0432-44FD-8FEF-A4E94B99F7C2}"/>
              </a:ext>
            </a:extLst>
          </p:cNvPr>
          <p:cNvSpPr>
            <a:spLocks noGrp="1"/>
          </p:cNvSpPr>
          <p:nvPr/>
        </p:nvSpPr>
        <p:spPr>
          <a:xfrm>
            <a:off x="6067425" y="21307425"/>
            <a:ext cx="4105275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buNone/>
              <a:defRPr sz="2175" b="1">
                <a:solidFill>
                  <a:srgbClr val="17355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17355C"/>
                </a:solidFill>
                <a:latin typeface="Arial Unicode MS"/>
                <a:ea typeface="Arial Unicode MS"/>
                <a:cs typeface="Arial Unicode MS"/>
              </a:rPr>
              <a:t>역할 검증</a:t>
            </a:r>
          </a:p>
        </p:txBody>
      </p:sp>
      <p:sp>
        <p:nvSpPr>
          <p:cNvPr id="243" name="직사각형 242">
            <a:extLst>
              <a:ext uri="{FF2B5EF4-FFF2-40B4-BE49-F238E27FC236}">
                <a16:creationId xmlns:a16="http://schemas.microsoft.com/office/drawing/2014/main" id="{D8BFFDAB-545A-4F6E-968C-4553AEA16203}"/>
              </a:ext>
            </a:extLst>
          </p:cNvPr>
          <p:cNvSpPr>
            <a:spLocks noGrp="1"/>
          </p:cNvSpPr>
          <p:nvPr/>
        </p:nvSpPr>
        <p:spPr>
          <a:xfrm>
            <a:off x="6067425" y="21764625"/>
            <a:ext cx="4105275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buNone/>
              <a:defRPr sz="1725" b="0">
                <a:solidFill>
                  <a:srgbClr val="5B657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5B6573"/>
                </a:solidFill>
                <a:latin typeface="Arial Unicode MS"/>
                <a:ea typeface="Arial Unicode MS"/>
                <a:cs typeface="Arial Unicode MS"/>
              </a:rPr>
              <a:t>source / sink</a:t>
            </a:r>
          </a:p>
        </p:txBody>
      </p:sp>
      <p:cxnSp>
        <p:nvCxnSpPr>
          <p:cNvPr id="333" name="직선 화살표 연결선 332"/>
          <p:cNvCxnSpPr>
            <a:stCxn id="238" idx="3"/>
            <a:endCxn id="241" idx="1"/>
          </p:cNvCxnSpPr>
          <p:nvPr/>
        </p:nvCxnSpPr>
        <p:spPr>
          <a:xfrm>
            <a:off x="5334000" y="21697950"/>
            <a:ext cx="619125" cy="0"/>
          </a:xfrm>
          <a:prstGeom prst="straightConnector1">
            <a:avLst/>
          </a:prstGeom>
          <a:ln w="28575">
            <a:solidFill>
              <a:srgbClr val="2F5597"/>
            </a:solidFill>
            <a:tailEnd type="triangle" w="sm" len="sm"/>
          </a:ln>
        </p:spPr>
      </p:cxnSp>
      <p:sp>
        <p:nvSpPr>
          <p:cNvPr id="245" name="모서리가 둥근 직사각형 244">
            <a:extLst>
              <a:ext uri="{FF2B5EF4-FFF2-40B4-BE49-F238E27FC236}">
                <a16:creationId xmlns:a16="http://schemas.microsoft.com/office/drawing/2014/main" id="{45B598E7-41FF-46DE-A54E-FC217E64FF67}"/>
              </a:ext>
            </a:extLst>
          </p:cNvPr>
          <p:cNvSpPr>
            <a:spLocks noGrp="1"/>
          </p:cNvSpPr>
          <p:nvPr/>
        </p:nvSpPr>
        <p:spPr>
          <a:xfrm>
            <a:off x="10906125" y="21145500"/>
            <a:ext cx="4333875" cy="1104900"/>
          </a:xfrm>
          <a:prstGeom prst="roundRect">
            <a:avLst>
              <a:gd name="adj" fmla="val 8621"/>
            </a:avLst>
          </a:prstGeom>
          <a:solidFill>
            <a:srgbClr val="EAF2F8"/>
          </a:solidFill>
          <a:ln w="19050">
            <a:solidFill>
              <a:srgbClr val="2F5597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6" name="직사각형 245">
            <a:extLst>
              <a:ext uri="{FF2B5EF4-FFF2-40B4-BE49-F238E27FC236}">
                <a16:creationId xmlns:a16="http://schemas.microsoft.com/office/drawing/2014/main" id="{2D13BB7E-1A30-4E33-B167-489ACAC4FFEE}"/>
              </a:ext>
            </a:extLst>
          </p:cNvPr>
          <p:cNvSpPr>
            <a:spLocks noGrp="1"/>
          </p:cNvSpPr>
          <p:nvPr/>
        </p:nvSpPr>
        <p:spPr>
          <a:xfrm>
            <a:off x="11020425" y="21307425"/>
            <a:ext cx="4105275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buNone/>
              <a:defRPr sz="2175" b="1">
                <a:solidFill>
                  <a:srgbClr val="17355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17355C"/>
                </a:solidFill>
                <a:latin typeface="Arial Unicode MS"/>
                <a:ea typeface="Arial Unicode MS"/>
                <a:cs typeface="Arial Unicode MS"/>
              </a:rPr>
              <a:t>근거 연결</a:t>
            </a:r>
          </a:p>
        </p:txBody>
      </p:sp>
      <p:sp>
        <p:nvSpPr>
          <p:cNvPr id="247" name="직사각형 246">
            <a:extLst>
              <a:ext uri="{FF2B5EF4-FFF2-40B4-BE49-F238E27FC236}">
                <a16:creationId xmlns:a16="http://schemas.microsoft.com/office/drawing/2014/main" id="{B61B5F45-A2C5-4295-8F47-43661BC2EF11}"/>
              </a:ext>
            </a:extLst>
          </p:cNvPr>
          <p:cNvSpPr>
            <a:spLocks noGrp="1"/>
          </p:cNvSpPr>
          <p:nvPr/>
        </p:nvSpPr>
        <p:spPr>
          <a:xfrm>
            <a:off x="11020425" y="21764625"/>
            <a:ext cx="4105275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buNone/>
              <a:defRPr sz="1725" b="0">
                <a:solidFill>
                  <a:srgbClr val="5B657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5B6573"/>
                </a:solidFill>
                <a:latin typeface="Arial Unicode MS"/>
                <a:ea typeface="Arial Unicode MS"/>
                <a:cs typeface="Arial Unicode MS"/>
              </a:rPr>
              <a:t>exact FQN 재부착</a:t>
            </a:r>
          </a:p>
        </p:txBody>
      </p:sp>
      <p:cxnSp>
        <p:nvCxnSpPr>
          <p:cNvPr id="337" name="직선 화살표 연결선 336"/>
          <p:cNvCxnSpPr>
            <a:stCxn id="241" idx="3"/>
            <a:endCxn id="245" idx="1"/>
          </p:cNvCxnSpPr>
          <p:nvPr/>
        </p:nvCxnSpPr>
        <p:spPr>
          <a:xfrm>
            <a:off x="10287000" y="21697950"/>
            <a:ext cx="619125" cy="0"/>
          </a:xfrm>
          <a:prstGeom prst="straightConnector1">
            <a:avLst/>
          </a:prstGeom>
          <a:ln w="28575">
            <a:solidFill>
              <a:srgbClr val="2F5597"/>
            </a:solidFill>
            <a:tailEnd type="triangle" w="sm" len="sm"/>
          </a:ln>
        </p:spPr>
      </p:cxnSp>
      <p:sp>
        <p:nvSpPr>
          <p:cNvPr id="249" name="모서리가 둥근 직사각형 248">
            <a:extLst>
              <a:ext uri="{FF2B5EF4-FFF2-40B4-BE49-F238E27FC236}">
                <a16:creationId xmlns:a16="http://schemas.microsoft.com/office/drawing/2014/main" id="{8E6F0F2F-3094-4529-B822-E654AC4963D1}"/>
              </a:ext>
            </a:extLst>
          </p:cNvPr>
          <p:cNvSpPr>
            <a:spLocks noGrp="1"/>
          </p:cNvSpPr>
          <p:nvPr/>
        </p:nvSpPr>
        <p:spPr>
          <a:xfrm>
            <a:off x="15859125" y="21145500"/>
            <a:ext cx="4333875" cy="1104900"/>
          </a:xfrm>
          <a:prstGeom prst="roundRect">
            <a:avLst>
              <a:gd name="adj" fmla="val 8621"/>
            </a:avLst>
          </a:prstGeom>
          <a:solidFill>
            <a:srgbClr val="E7F6F4"/>
          </a:solidFill>
          <a:ln w="19050">
            <a:solidFill>
              <a:srgbClr val="149E9A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0" name="직사각형 249">
            <a:extLst>
              <a:ext uri="{FF2B5EF4-FFF2-40B4-BE49-F238E27FC236}">
                <a16:creationId xmlns:a16="http://schemas.microsoft.com/office/drawing/2014/main" id="{3DCD8C8B-9B2A-4BD9-9531-D0AF396B560C}"/>
              </a:ext>
            </a:extLst>
          </p:cNvPr>
          <p:cNvSpPr>
            <a:spLocks noGrp="1"/>
          </p:cNvSpPr>
          <p:nvPr/>
        </p:nvSpPr>
        <p:spPr>
          <a:xfrm>
            <a:off x="15973425" y="21307425"/>
            <a:ext cx="4105275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buNone/>
              <a:defRPr sz="2175" b="1">
                <a:solidFill>
                  <a:srgbClr val="17355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17355C"/>
                </a:solidFill>
                <a:latin typeface="Arial Unicode MS"/>
                <a:ea typeface="Arial Unicode MS"/>
                <a:cs typeface="Arial Unicode MS"/>
              </a:rPr>
              <a:t>결과 통합</a:t>
            </a:r>
          </a:p>
        </p:txBody>
      </p:sp>
      <p:sp>
        <p:nvSpPr>
          <p:cNvPr id="251" name="직사각형 250">
            <a:extLst>
              <a:ext uri="{FF2B5EF4-FFF2-40B4-BE49-F238E27FC236}">
                <a16:creationId xmlns:a16="http://schemas.microsoft.com/office/drawing/2014/main" id="{2681ABFA-DDFB-4801-AEC5-FC07CF620AA6}"/>
              </a:ext>
            </a:extLst>
          </p:cNvPr>
          <p:cNvSpPr>
            <a:spLocks noGrp="1"/>
          </p:cNvSpPr>
          <p:nvPr/>
        </p:nvSpPr>
        <p:spPr>
          <a:xfrm>
            <a:off x="15973425" y="21764625"/>
            <a:ext cx="4105275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buNone/>
              <a:defRPr sz="1725" b="0">
                <a:solidFill>
                  <a:srgbClr val="5B657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5B6573"/>
                </a:solidFill>
                <a:latin typeface="Arial Unicode MS"/>
                <a:ea typeface="Arial Unicode MS"/>
                <a:cs typeface="Arial Unicode MS"/>
              </a:rPr>
              <a:t>CPG 경고 보존</a:t>
            </a:r>
          </a:p>
        </p:txBody>
      </p:sp>
      <p:cxnSp>
        <p:nvCxnSpPr>
          <p:cNvPr id="341" name="직선 화살표 연결선 340"/>
          <p:cNvCxnSpPr>
            <a:stCxn id="245" idx="3"/>
            <a:endCxn id="249" idx="1"/>
          </p:cNvCxnSpPr>
          <p:nvPr/>
        </p:nvCxnSpPr>
        <p:spPr>
          <a:xfrm>
            <a:off x="15240000" y="21697950"/>
            <a:ext cx="619125" cy="0"/>
          </a:xfrm>
          <a:prstGeom prst="straightConnector1">
            <a:avLst/>
          </a:prstGeom>
          <a:ln w="28575">
            <a:solidFill>
              <a:srgbClr val="2F5597"/>
            </a:solidFill>
            <a:tailEnd type="triangle" w="sm" len="sm"/>
          </a:ln>
        </p:spPr>
      </p:cxnSp>
      <p:sp>
        <p:nvSpPr>
          <p:cNvPr id="253" name="직사각형 252">
            <a:extLst>
              <a:ext uri="{FF2B5EF4-FFF2-40B4-BE49-F238E27FC236}">
                <a16:creationId xmlns:a16="http://schemas.microsoft.com/office/drawing/2014/main" id="{3F24A072-76B0-4C5D-B21D-EF2D6BDB1C3F}"/>
              </a:ext>
            </a:extLst>
          </p:cNvPr>
          <p:cNvSpPr>
            <a:spLocks noGrp="1"/>
          </p:cNvSpPr>
          <p:nvPr/>
        </p:nvSpPr>
        <p:spPr>
          <a:xfrm>
            <a:off x="952500" y="23717250"/>
            <a:ext cx="80962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2475" b="1">
                <a:solidFill>
                  <a:srgbClr val="17355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75" b="1">
                <a:solidFill>
                  <a:srgbClr val="17355C"/>
                </a:solidFill>
                <a:latin typeface="Arial Unicode MS"/>
                <a:ea typeface="Arial Unicode MS"/>
                <a:cs typeface="Arial Unicode MS"/>
              </a:rPr>
              <a:t>전체 38 CWE F1</a:t>
            </a:r>
          </a:p>
        </p:txBody>
      </p:sp>
      <p:sp>
        <p:nvSpPr>
          <p:cNvPr id="254" name="직선 연결선[R] 253">
            <a:extLst>
              <a:ext uri="{FF2B5EF4-FFF2-40B4-BE49-F238E27FC236}">
                <a16:creationId xmlns:a16="http://schemas.microsoft.com/office/drawing/2014/main" id="{D8691D40-9380-4D38-B3DD-9AF11FAD2B9D}"/>
              </a:ext>
            </a:extLst>
          </p:cNvPr>
          <p:cNvSpPr>
            <a:spLocks noGrp="1"/>
          </p:cNvSpPr>
          <p:nvPr/>
        </p:nvSpPr>
        <p:spPr>
          <a:xfrm>
            <a:off x="952500" y="24231600"/>
            <a:ext cx="8096250" cy="0"/>
          </a:xfrm>
          <a:prstGeom prst="line">
            <a:avLst/>
          </a:prstGeom>
          <a:noFill/>
          <a:ln w="19050">
            <a:solidFill>
              <a:srgbClr val="D8E0E7"/>
            </a:solidFill>
          </a:ln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344" name="Chart"/>
          <p:cNvGraphicFramePr/>
          <p:nvPr/>
        </p:nvGraphicFramePr>
        <p:xfrm>
          <a:off x="952500" y="24307800"/>
          <a:ext cx="8096250" cy="30289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sp>
        <p:nvSpPr>
          <p:cNvPr id="256" name="직사각형 255">
            <a:extLst>
              <a:ext uri="{FF2B5EF4-FFF2-40B4-BE49-F238E27FC236}">
                <a16:creationId xmlns:a16="http://schemas.microsoft.com/office/drawing/2014/main" id="{23E2B22D-1B36-436E-870E-5F6467D180BF}"/>
              </a:ext>
            </a:extLst>
          </p:cNvPr>
          <p:cNvSpPr>
            <a:spLocks noGrp="1"/>
          </p:cNvSpPr>
          <p:nvPr/>
        </p:nvSpPr>
        <p:spPr>
          <a:xfrm>
            <a:off x="9810750" y="23717250"/>
            <a:ext cx="576262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2475" b="1">
                <a:solidFill>
                  <a:srgbClr val="17355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75" b="1">
                <a:solidFill>
                  <a:srgbClr val="17355C"/>
                </a:solidFill>
                <a:latin typeface="Arial Unicode MS"/>
                <a:ea typeface="Arial Unicode MS"/>
                <a:cs typeface="Arial Unicode MS"/>
              </a:rPr>
              <a:t>능력별 결과</a:t>
            </a:r>
          </a:p>
        </p:txBody>
      </p:sp>
      <p:sp>
        <p:nvSpPr>
          <p:cNvPr id="257" name="직선 연결선[R] 256">
            <a:extLst>
              <a:ext uri="{FF2B5EF4-FFF2-40B4-BE49-F238E27FC236}">
                <a16:creationId xmlns:a16="http://schemas.microsoft.com/office/drawing/2014/main" id="{90EA7C8C-9594-44C5-AA2F-5799871C9204}"/>
              </a:ext>
            </a:extLst>
          </p:cNvPr>
          <p:cNvSpPr>
            <a:spLocks noGrp="1"/>
          </p:cNvSpPr>
          <p:nvPr/>
        </p:nvSpPr>
        <p:spPr>
          <a:xfrm>
            <a:off x="9810750" y="24231600"/>
            <a:ext cx="5762625" cy="0"/>
          </a:xfrm>
          <a:prstGeom prst="line">
            <a:avLst/>
          </a:prstGeom>
          <a:noFill/>
          <a:ln w="19050">
            <a:solidFill>
              <a:srgbClr val="D8E0E7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8" name="직사각형 257">
            <a:extLst>
              <a:ext uri="{FF2B5EF4-FFF2-40B4-BE49-F238E27FC236}">
                <a16:creationId xmlns:a16="http://schemas.microsoft.com/office/drawing/2014/main" id="{41A51B2E-BED0-40F9-B40D-0F22EC91942A}"/>
              </a:ext>
            </a:extLst>
          </p:cNvPr>
          <p:cNvSpPr>
            <a:spLocks noGrp="1"/>
          </p:cNvSpPr>
          <p:nvPr/>
        </p:nvSpPr>
        <p:spPr>
          <a:xfrm>
            <a:off x="9858375" y="24460200"/>
            <a:ext cx="566737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2175" b="1">
                <a:solidFill>
                  <a:srgbClr val="17355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17355C"/>
                </a:solidFill>
                <a:latin typeface="Arial Unicode MS"/>
                <a:ea typeface="Arial Unicode MS"/>
                <a:cs typeface="Arial Unicode MS"/>
              </a:rPr>
              <a:t>직접 7 CWE</a:t>
            </a:r>
          </a:p>
        </p:txBody>
      </p:sp>
      <p:sp>
        <p:nvSpPr>
          <p:cNvPr id="259" name="직사각형 258">
            <a:extLst>
              <a:ext uri="{FF2B5EF4-FFF2-40B4-BE49-F238E27FC236}">
                <a16:creationId xmlns:a16="http://schemas.microsoft.com/office/drawing/2014/main" id="{2BE4D00B-C8A4-40CF-A62F-C579602519E1}"/>
              </a:ext>
            </a:extLst>
          </p:cNvPr>
          <p:cNvSpPr>
            <a:spLocks noGrp="1"/>
          </p:cNvSpPr>
          <p:nvPr/>
        </p:nvSpPr>
        <p:spPr>
          <a:xfrm>
            <a:off x="9858375" y="24955500"/>
            <a:ext cx="5667375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2925" b="1">
                <a:solidFill>
                  <a:srgbClr val="149E9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925" b="1">
                <a:solidFill>
                  <a:srgbClr val="149E9A"/>
                </a:solidFill>
                <a:latin typeface="Arial Unicode MS"/>
                <a:ea typeface="Arial Unicode MS"/>
                <a:cs typeface="Arial Unicode MS"/>
              </a:rPr>
              <a:t>F1 1.000   FPR 0</a:t>
            </a:r>
          </a:p>
        </p:txBody>
      </p:sp>
      <p:sp>
        <p:nvSpPr>
          <p:cNvPr id="260" name="직사각형 259">
            <a:extLst>
              <a:ext uri="{FF2B5EF4-FFF2-40B4-BE49-F238E27FC236}">
                <a16:creationId xmlns:a16="http://schemas.microsoft.com/office/drawing/2014/main" id="{824A580E-CD0E-4FB2-B4DB-7D228535946C}"/>
              </a:ext>
            </a:extLst>
          </p:cNvPr>
          <p:cNvSpPr>
            <a:spLocks noGrp="1"/>
          </p:cNvSpPr>
          <p:nvPr/>
        </p:nvSpPr>
        <p:spPr>
          <a:xfrm>
            <a:off x="9858375" y="25679400"/>
            <a:ext cx="5667375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2025" b="1">
                <a:solidFill>
                  <a:srgbClr val="17355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17355C"/>
                </a:solidFill>
                <a:latin typeface="Arial Unicode MS"/>
                <a:ea typeface="Arial Unicode MS"/>
                <a:cs typeface="Arial Unicode MS"/>
              </a:rPr>
              <a:t>Taint 14 CWE · Recall</a:t>
            </a:r>
          </a:p>
        </p:txBody>
      </p:sp>
      <p:sp>
        <p:nvSpPr>
          <p:cNvPr id="261" name="직사각형 260">
            <a:extLst>
              <a:ext uri="{FF2B5EF4-FFF2-40B4-BE49-F238E27FC236}">
                <a16:creationId xmlns:a16="http://schemas.microsoft.com/office/drawing/2014/main" id="{49BCFEF1-96FA-42B2-9F21-AE3676F7AEBC}"/>
              </a:ext>
            </a:extLst>
          </p:cNvPr>
          <p:cNvSpPr>
            <a:spLocks noGrp="1"/>
          </p:cNvSpPr>
          <p:nvPr/>
        </p:nvSpPr>
        <p:spPr>
          <a:xfrm>
            <a:off x="9858375" y="26241375"/>
            <a:ext cx="204787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buNone/>
              <a:defRPr sz="1725" b="0">
                <a:solidFill>
                  <a:srgbClr val="5B657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5B6573"/>
                </a:solidFill>
                <a:latin typeface="Arial Unicode MS"/>
                <a:ea typeface="Arial Unicode MS"/>
                <a:cs typeface="Arial Unicode MS"/>
              </a:rPr>
              <a:t>고정 CPG</a:t>
            </a:r>
          </a:p>
        </p:txBody>
      </p:sp>
      <p:sp>
        <p:nvSpPr>
          <p:cNvPr id="262" name="직사각형 261">
            <a:extLst>
              <a:ext uri="{FF2B5EF4-FFF2-40B4-BE49-F238E27FC236}">
                <a16:creationId xmlns:a16="http://schemas.microsoft.com/office/drawing/2014/main" id="{85BB045C-5CE1-4F75-AB4E-83BAE8813FC6}"/>
              </a:ext>
            </a:extLst>
          </p:cNvPr>
          <p:cNvSpPr>
            <a:spLocks noGrp="1"/>
          </p:cNvSpPr>
          <p:nvPr/>
        </p:nvSpPr>
        <p:spPr>
          <a:xfrm>
            <a:off x="12811125" y="26241375"/>
            <a:ext cx="252412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buNone/>
              <a:defRPr sz="1725" b="0">
                <a:solidFill>
                  <a:srgbClr val="5B657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5B6573"/>
                </a:solidFill>
                <a:latin typeface="Arial Unicode MS"/>
                <a:ea typeface="Arial Unicode MS"/>
                <a:cs typeface="Arial Unicode MS"/>
              </a:rPr>
              <a:t>Qwen 규칙 보강</a:t>
            </a:r>
          </a:p>
        </p:txBody>
      </p:sp>
      <p:sp>
        <p:nvSpPr>
          <p:cNvPr id="263" name="직사각형 262">
            <a:extLst>
              <a:ext uri="{FF2B5EF4-FFF2-40B4-BE49-F238E27FC236}">
                <a16:creationId xmlns:a16="http://schemas.microsoft.com/office/drawing/2014/main" id="{E8B6ABD8-E732-4F0A-A312-406E5F343D6B}"/>
              </a:ext>
            </a:extLst>
          </p:cNvPr>
          <p:cNvSpPr>
            <a:spLocks noGrp="1"/>
          </p:cNvSpPr>
          <p:nvPr/>
        </p:nvSpPr>
        <p:spPr>
          <a:xfrm>
            <a:off x="9858375" y="26622375"/>
            <a:ext cx="2047875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buNone/>
              <a:defRPr sz="3225" b="1">
                <a:solidFill>
                  <a:srgbClr val="2F559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2F5597"/>
                </a:solidFill>
                <a:latin typeface="Arial Unicode MS"/>
                <a:ea typeface="Arial Unicode MS"/>
                <a:cs typeface="Arial Unicode MS"/>
              </a:rPr>
              <a:t>20.0%</a:t>
            </a:r>
          </a:p>
        </p:txBody>
      </p:sp>
      <p:sp>
        <p:nvSpPr>
          <p:cNvPr id="264" name="직사각형 263">
            <a:extLst>
              <a:ext uri="{FF2B5EF4-FFF2-40B4-BE49-F238E27FC236}">
                <a16:creationId xmlns:a16="http://schemas.microsoft.com/office/drawing/2014/main" id="{8B1BB32E-9046-4157-B12C-A06B85EA8730}"/>
              </a:ext>
            </a:extLst>
          </p:cNvPr>
          <p:cNvSpPr>
            <a:spLocks noGrp="1"/>
          </p:cNvSpPr>
          <p:nvPr/>
        </p:nvSpPr>
        <p:spPr>
          <a:xfrm>
            <a:off x="12096750" y="26670000"/>
            <a:ext cx="714375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buNone/>
              <a:defRPr sz="2700" b="1">
                <a:solidFill>
                  <a:srgbClr val="17355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17355C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265" name="직사각형 264">
            <a:extLst>
              <a:ext uri="{FF2B5EF4-FFF2-40B4-BE49-F238E27FC236}">
                <a16:creationId xmlns:a16="http://schemas.microsoft.com/office/drawing/2014/main" id="{583B6CE3-85C3-4422-A604-150060FD1D95}"/>
              </a:ext>
            </a:extLst>
          </p:cNvPr>
          <p:cNvSpPr>
            <a:spLocks noGrp="1"/>
          </p:cNvSpPr>
          <p:nvPr/>
        </p:nvSpPr>
        <p:spPr>
          <a:xfrm>
            <a:off x="12811125" y="26622375"/>
            <a:ext cx="2524125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buNone/>
              <a:defRPr sz="3225" b="1">
                <a:solidFill>
                  <a:srgbClr val="149E9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49E9A"/>
                </a:solidFill>
                <a:latin typeface="Arial Unicode MS"/>
                <a:ea typeface="Arial Unicode MS"/>
                <a:cs typeface="Arial Unicode MS"/>
              </a:rPr>
              <a:t>34.8%</a:t>
            </a:r>
          </a:p>
        </p:txBody>
      </p:sp>
      <p:sp>
        <p:nvSpPr>
          <p:cNvPr id="266" name="직사각형 265">
            <a:extLst>
              <a:ext uri="{FF2B5EF4-FFF2-40B4-BE49-F238E27FC236}">
                <a16:creationId xmlns:a16="http://schemas.microsoft.com/office/drawing/2014/main" id="{213ADB36-48E0-4550-8B32-1F919D344D54}"/>
              </a:ext>
            </a:extLst>
          </p:cNvPr>
          <p:cNvSpPr>
            <a:spLocks noGrp="1"/>
          </p:cNvSpPr>
          <p:nvPr/>
        </p:nvSpPr>
        <p:spPr>
          <a:xfrm>
            <a:off x="9858375" y="27432000"/>
            <a:ext cx="566737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1725" b="0">
                <a:solidFill>
                  <a:srgbClr val="5B657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5B6573"/>
                </a:solidFill>
                <a:latin typeface="Arial Unicode MS"/>
                <a:ea typeface="Arial Unicode MS"/>
                <a:cs typeface="Arial Unicode MS"/>
              </a:rPr>
              <a:t>F1 0.286 → 0.435  /  FPR 20.0% → 25.2%</a:t>
            </a:r>
          </a:p>
        </p:txBody>
      </p:sp>
      <p:sp>
        <p:nvSpPr>
          <p:cNvPr id="267" name="직사각형 266">
            <a:extLst>
              <a:ext uri="{FF2B5EF4-FFF2-40B4-BE49-F238E27FC236}">
                <a16:creationId xmlns:a16="http://schemas.microsoft.com/office/drawing/2014/main" id="{3AED820F-96CC-4E73-AA3B-A30382A67B23}"/>
              </a:ext>
            </a:extLst>
          </p:cNvPr>
          <p:cNvSpPr>
            <a:spLocks noGrp="1"/>
          </p:cNvSpPr>
          <p:nvPr/>
        </p:nvSpPr>
        <p:spPr>
          <a:xfrm>
            <a:off x="16287750" y="23717250"/>
            <a:ext cx="414337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2475" b="1">
                <a:solidFill>
                  <a:srgbClr val="17355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75" b="1">
                <a:solidFill>
                  <a:srgbClr val="17355C"/>
                </a:solidFill>
                <a:latin typeface="Arial Unicode MS"/>
                <a:ea typeface="Arial Unicode MS"/>
                <a:cs typeface="Arial Unicode MS"/>
              </a:rPr>
              <a:t>결론과 한계</a:t>
            </a:r>
          </a:p>
        </p:txBody>
      </p:sp>
      <p:sp>
        <p:nvSpPr>
          <p:cNvPr id="268" name="직선 연결선[R] 267">
            <a:extLst>
              <a:ext uri="{FF2B5EF4-FFF2-40B4-BE49-F238E27FC236}">
                <a16:creationId xmlns:a16="http://schemas.microsoft.com/office/drawing/2014/main" id="{83204028-C8D9-45F9-A555-8B36951B13D2}"/>
              </a:ext>
            </a:extLst>
          </p:cNvPr>
          <p:cNvSpPr>
            <a:spLocks noGrp="1"/>
          </p:cNvSpPr>
          <p:nvPr/>
        </p:nvSpPr>
        <p:spPr>
          <a:xfrm>
            <a:off x="16287750" y="24231600"/>
            <a:ext cx="4143375" cy="0"/>
          </a:xfrm>
          <a:prstGeom prst="line">
            <a:avLst/>
          </a:prstGeom>
          <a:noFill/>
          <a:ln w="19050">
            <a:solidFill>
              <a:srgbClr val="D8E0E7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9" name="직사각형 268">
            <a:extLst>
              <a:ext uri="{FF2B5EF4-FFF2-40B4-BE49-F238E27FC236}">
                <a16:creationId xmlns:a16="http://schemas.microsoft.com/office/drawing/2014/main" id="{8817CFC1-311C-42B3-ACB7-252B22A2C774}"/>
              </a:ext>
            </a:extLst>
          </p:cNvPr>
          <p:cNvSpPr>
            <a:spLocks noGrp="1"/>
          </p:cNvSpPr>
          <p:nvPr/>
        </p:nvSpPr>
        <p:spPr>
          <a:xfrm>
            <a:off x="16335375" y="24450675"/>
            <a:ext cx="4048125" cy="2933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1950" b="0">
                <a:solidFill>
                  <a:srgbClr val="18212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8212D"/>
                </a:solidFill>
                <a:latin typeface="Arial Unicode MS"/>
                <a:ea typeface="Arial Unicode MS"/>
                <a:cs typeface="Arial Unicode MS"/>
              </a:rPr>
              <a:t>CPG는 직접 규칙 영역에서</a:t>
            </a:r>
          </a:p>
          <a:p>
            <a:pPr algn="l">
              <a:lnSpc>
                <a:spcPct val="115000"/>
              </a:lnSpc>
              <a:buNone/>
              <a:defRPr sz="1950" b="0">
                <a:solidFill>
                  <a:srgbClr val="18212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8212D"/>
                </a:solidFill>
                <a:latin typeface="Arial Unicode MS"/>
                <a:ea typeface="Arial Unicode MS"/>
                <a:cs typeface="Arial Unicode MS"/>
              </a:rPr>
              <a:t>안정적이었다.</a:t>
            </a:r>
          </a:p>
          <a:p>
            <a:endParaRPr sz="1950" b="0">
              <a:solidFill>
                <a:srgbClr val="18212D"/>
              </a:solidFill>
              <a:latin typeface="Arial Unicode MS"/>
              <a:ea typeface="Arial Unicode MS"/>
              <a:cs typeface="Arial Unicode MS"/>
            </a:endParaRPr>
          </a:p>
          <a:p>
            <a:pPr algn="l">
              <a:lnSpc>
                <a:spcPct val="115000"/>
              </a:lnSpc>
              <a:buNone/>
              <a:defRPr sz="1950" b="0">
                <a:solidFill>
                  <a:srgbClr val="18212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8212D"/>
                </a:solidFill>
                <a:latin typeface="Arial Unicode MS"/>
                <a:ea typeface="Arial Unicode MS"/>
                <a:cs typeface="Arial Unicode MS"/>
              </a:rPr>
              <a:t>Qwen 규칙은 탐지율과 함께</a:t>
            </a:r>
          </a:p>
          <a:p>
            <a:pPr algn="l">
              <a:lnSpc>
                <a:spcPct val="115000"/>
              </a:lnSpc>
              <a:buNone/>
              <a:defRPr sz="1950" b="0">
                <a:solidFill>
                  <a:srgbClr val="18212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8212D"/>
                </a:solidFill>
                <a:latin typeface="Arial Unicode MS"/>
                <a:ea typeface="Arial Unicode MS"/>
                <a:cs typeface="Arial Unicode MS"/>
              </a:rPr>
              <a:t>오탐도 늘렸다.</a:t>
            </a:r>
          </a:p>
          <a:p>
            <a:endParaRPr sz="1950" b="0">
              <a:solidFill>
                <a:srgbClr val="18212D"/>
              </a:solidFill>
              <a:latin typeface="Arial Unicode MS"/>
              <a:ea typeface="Arial Unicode MS"/>
              <a:cs typeface="Arial Unicode MS"/>
            </a:endParaRPr>
          </a:p>
          <a:p>
            <a:pPr algn="l">
              <a:lnSpc>
                <a:spcPct val="115000"/>
              </a:lnSpc>
              <a:buNone/>
              <a:defRPr sz="1950" b="0">
                <a:solidFill>
                  <a:srgbClr val="18212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8212D"/>
                </a:solidFill>
                <a:latin typeface="Arial Unicode MS"/>
                <a:ea typeface="Arial Unicode MS"/>
                <a:cs typeface="Arial Unicode MS"/>
              </a:rPr>
              <a:t>서비스 연동을 확인했으며,</a:t>
            </a:r>
          </a:p>
          <a:p>
            <a:pPr algn="l">
              <a:lnSpc>
                <a:spcPct val="115000"/>
              </a:lnSpc>
              <a:buNone/>
              <a:defRPr sz="1950" b="0">
                <a:solidFill>
                  <a:srgbClr val="18212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8212D"/>
                </a:solidFill>
                <a:latin typeface="Arial Unicode MS"/>
                <a:ea typeface="Arial Unicode MS"/>
                <a:cs typeface="Arial Unicode MS"/>
              </a:rPr>
              <a:t>실제 CVE 일반화는 후속</a:t>
            </a:r>
          </a:p>
          <a:p>
            <a:pPr algn="l">
              <a:lnSpc>
                <a:spcPct val="115000"/>
              </a:lnSpc>
              <a:buNone/>
              <a:defRPr sz="1950" b="0">
                <a:solidFill>
                  <a:srgbClr val="18212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8212D"/>
                </a:solidFill>
                <a:latin typeface="Arial Unicode MS"/>
                <a:ea typeface="Arial Unicode MS"/>
                <a:cs typeface="Arial Unicode MS"/>
              </a:rPr>
              <a:t>독립 평가가 필요하다.</a:t>
            </a:r>
          </a:p>
        </p:txBody>
      </p:sp>
      <p:sp>
        <p:nvSpPr>
          <p:cNvPr id="270" name="직사각형 269">
            <a:extLst>
              <a:ext uri="{FF2B5EF4-FFF2-40B4-BE49-F238E27FC236}">
                <a16:creationId xmlns:a16="http://schemas.microsoft.com/office/drawing/2014/main" id="{C15ED684-A247-41FE-828E-8A8F68E33CE4}"/>
              </a:ext>
            </a:extLst>
          </p:cNvPr>
          <p:cNvSpPr>
            <a:spLocks noGrp="1"/>
          </p:cNvSpPr>
          <p:nvPr/>
        </p:nvSpPr>
        <p:spPr>
          <a:xfrm>
            <a:off x="952500" y="27527250"/>
            <a:ext cx="809625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1650" b="0">
                <a:solidFill>
                  <a:srgbClr val="5B657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5B6573"/>
                </a:solidFill>
                <a:latin typeface="Arial Unicode MS"/>
                <a:ea typeface="Arial Unicode MS"/>
                <a:cs typeface="Arial Unicode MS"/>
              </a:rPr>
              <a:t>Qwen source-only 0.884는 목표 CWE를 제공한</a:t>
            </a:r>
          </a:p>
          <a:p>
            <a:pPr algn="l">
              <a:lnSpc>
                <a:spcPct val="115000"/>
              </a:lnSpc>
              <a:buNone/>
              <a:defRPr sz="1650" b="0">
                <a:solidFill>
                  <a:srgbClr val="5B657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5B6573"/>
                </a:solidFill>
                <a:latin typeface="Arial Unicode MS"/>
                <a:ea typeface="Arial Unicode MS"/>
                <a:cs typeface="Arial Unicode MS"/>
              </a:rPr>
              <a:t>target-CWE-aware closed-set 실험 결과이다.</a:t>
            </a:r>
          </a:p>
        </p:txBody>
      </p:sp>
      <p:sp>
        <p:nvSpPr>
          <p:cNvPr id="271" name="직사각형 270">
            <a:extLst>
              <a:ext uri="{FF2B5EF4-FFF2-40B4-BE49-F238E27FC236}">
                <a16:creationId xmlns:a16="http://schemas.microsoft.com/office/drawing/2014/main" id="{0C83866E-E8F4-4B9B-8B90-7B0FD5944F9F}"/>
              </a:ext>
            </a:extLst>
          </p:cNvPr>
          <p:cNvSpPr>
            <a:spLocks noGrp="1"/>
          </p:cNvSpPr>
          <p:nvPr/>
        </p:nvSpPr>
        <p:spPr>
          <a:xfrm>
            <a:off x="952500" y="28098750"/>
            <a:ext cx="19478625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buNone/>
              <a:defRPr sz="1575" b="0">
                <a:solidFill>
                  <a:srgbClr val="5B657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5B6573"/>
                </a:solidFill>
                <a:latin typeface="Arial Unicode MS"/>
                <a:ea typeface="Arial Unicode MS"/>
                <a:cs typeface="Arial Unicode MS"/>
              </a:rPr>
              <a:t>오프라인 router 후보 F1 0.901은 목표 CWE를 사용한 연구 결과이며 실제 배포 알고리즘이 아니다.</a:t>
            </a:r>
          </a:p>
        </p:txBody>
      </p:sp>
    </p:spTree>
    <p:extLst>
      <p:ext uri="{BB962C8B-B14F-4D97-AF65-F5344CB8AC3E}">
        <p14:creationId xmlns:p14="http://schemas.microsoft.com/office/powerpoint/2010/main" val="18614470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382</Words>
  <Application>Microsoft Macintosh PowerPoint</Application>
  <DocSecurity>0</DocSecurity>
  <PresentationFormat>사용자 지정</PresentationFormat>
  <Paragraphs>72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9" baseType="lpstr">
      <vt:lpstr>Apple SD Gothic Neo</vt:lpstr>
      <vt:lpstr>Arial</vt:lpstr>
      <vt:lpstr>Franklin Gothic Demi</vt:lpstr>
      <vt:lpstr>Arial Black</vt:lpstr>
      <vt:lpstr>Calibri Light</vt:lpstr>
      <vt:lpstr>Arial Unicode MS</vt:lpstr>
      <vt:lpstr>Calibri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김세한</cp:lastModifiedBy>
  <cp:revision>1</cp:revision>
  <dcterms:created xsi:type="dcterms:W3CDTF">2026-09-09T05:40:20Z</dcterms:created>
  <dcterms:modified xsi:type="dcterms:W3CDTF">2026-09-09T13:16:23Z</dcterms:modified>
</cp:coreProperties>
</file>